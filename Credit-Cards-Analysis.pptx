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Instrument Sans Medium" panose="020B0604020202020204" charset="0"/>
      <p:regular r:id="rId12"/>
    </p:embeddedFont>
    <p:embeddedFont>
      <p:font typeface="Instrument Sans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9134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hyperlink" Target="https://creativecommons.org/licenses/by-nd/3.0/" TargetMode="External"/><Relationship Id="rId4" Type="http://schemas.openxmlformats.org/officeDocument/2006/relationships/hyperlink" Target="https://www.quoteinspector.com/images/credit/secure-credit-cards-bw/"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856444" y="2832409"/>
            <a:ext cx="8350210" cy="2553630"/>
          </a:xfrm>
          <a:prstGeom prst="rect">
            <a:avLst/>
          </a:prstGeom>
          <a:noFill/>
          <a:ln/>
        </p:spPr>
        <p:txBody>
          <a:bodyPr wrap="none" lIns="0" tIns="0" rIns="0" bIns="0" rtlCol="0" anchor="t"/>
          <a:lstStyle/>
          <a:p>
            <a:pPr marL="0" indent="0" algn="ctr">
              <a:buNone/>
            </a:pPr>
            <a:r>
              <a:rPr lang="en-US" sz="8000" b="1" dirty="0">
                <a:solidFill>
                  <a:schemeClr val="bg1"/>
                </a:solidFill>
                <a:latin typeface="Times New Roman" panose="02020603050405020304" pitchFamily="18" charset="0"/>
                <a:ea typeface="Instrument Sans Semi Bold" pitchFamily="34" charset="-122"/>
                <a:cs typeface="Times New Roman" panose="02020603050405020304" pitchFamily="18" charset="0"/>
              </a:rPr>
              <a:t>CREDIT CARD </a:t>
            </a:r>
          </a:p>
          <a:p>
            <a:pPr marL="0" indent="0" algn="ctr">
              <a:buNone/>
            </a:pPr>
            <a:r>
              <a:rPr lang="en-US" sz="8000" b="1" dirty="0">
                <a:solidFill>
                  <a:schemeClr val="bg1"/>
                </a:solidFill>
                <a:latin typeface="Times New Roman" panose="02020603050405020304" pitchFamily="18" charset="0"/>
                <a:ea typeface="Instrument Sans Semi Bold" pitchFamily="34" charset="-122"/>
                <a:cs typeface="Times New Roman" panose="02020603050405020304" pitchFamily="18" charset="0"/>
              </a:rPr>
              <a:t>ANALYSIS</a:t>
            </a:r>
            <a:endParaRPr lang="en-US" sz="8000" b="1"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B0F9B70-72AA-9EEC-17F8-FE121948A8D7}"/>
              </a:ext>
            </a:extLst>
          </p:cNvPr>
          <p:cNvPicPr>
            <a:picLocks noChangeAspect="1"/>
          </p:cNvPicPr>
          <p:nvPr/>
        </p:nvPicPr>
        <p:blipFill>
          <a:blip r:embed="rId4"/>
          <a:stretch>
            <a:fillRect/>
          </a:stretch>
        </p:blipFill>
        <p:spPr>
          <a:xfrm>
            <a:off x="12429818" y="7366957"/>
            <a:ext cx="2200582" cy="790685"/>
          </a:xfrm>
          <a:prstGeom prst="rect">
            <a:avLst/>
          </a:prstGeom>
        </p:spPr>
      </p:pic>
      <p:sp>
        <p:nvSpPr>
          <p:cNvPr id="4" name="TextBox 3">
            <a:extLst>
              <a:ext uri="{FF2B5EF4-FFF2-40B4-BE49-F238E27FC236}">
                <a16:creationId xmlns:a16="http://schemas.microsoft.com/office/drawing/2014/main" id="{D0EA8358-4DBF-A2E5-8160-947187EF0226}"/>
              </a:ext>
            </a:extLst>
          </p:cNvPr>
          <p:cNvSpPr txBox="1"/>
          <p:nvPr/>
        </p:nvSpPr>
        <p:spPr>
          <a:xfrm>
            <a:off x="8095089" y="5661698"/>
            <a:ext cx="3872920" cy="461665"/>
          </a:xfrm>
          <a:prstGeom prst="rect">
            <a:avLst/>
          </a:prstGeom>
          <a:noFill/>
        </p:spPr>
        <p:txBody>
          <a:bodyPr wrap="none" rtlCol="0">
            <a:spAutoFit/>
          </a:bodyPr>
          <a:lstStyle/>
          <a:p>
            <a:r>
              <a:rPr lang="en-IN" sz="2400" dirty="0">
                <a:solidFill>
                  <a:schemeClr val="bg1"/>
                </a:solidFill>
              </a:rPr>
              <a:t>Presented by ARYANANDA VP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08265"/>
            <a:ext cx="13042820" cy="708779"/>
          </a:xfrm>
          <a:prstGeom prst="rect">
            <a:avLst/>
          </a:prstGeom>
          <a:noFill/>
          <a:ln/>
        </p:spPr>
        <p:txBody>
          <a:bodyPr wrap="none" lIns="0" tIns="0" rIns="0" bIns="0" rtlCol="0" anchor="t"/>
          <a:lstStyle/>
          <a:p>
            <a:pPr marL="0" indent="0" algn="ctr">
              <a:lnSpc>
                <a:spcPts val="5550"/>
              </a:lnSpc>
              <a:buNone/>
            </a:pPr>
            <a:r>
              <a:rPr lang="en-US" sz="7200" b="1" dirty="0">
                <a:solidFill>
                  <a:schemeClr val="bg1"/>
                </a:solidFill>
                <a:latin typeface="+mj-lt"/>
                <a:ea typeface="Instrument Sans Semi Bold" pitchFamily="34" charset="-122"/>
                <a:cs typeface="Instrument Sans Semi Bold" pitchFamily="34" charset="-120"/>
              </a:rPr>
              <a:t>INTRODUCTION</a:t>
            </a:r>
            <a:endParaRPr lang="en-US" sz="7200" b="1" dirty="0">
              <a:solidFill>
                <a:schemeClr val="bg1"/>
              </a:solidFill>
              <a:latin typeface="+mj-lt"/>
            </a:endParaRPr>
          </a:p>
        </p:txBody>
      </p:sp>
      <p:sp>
        <p:nvSpPr>
          <p:cNvPr id="3" name="Text 1"/>
          <p:cNvSpPr/>
          <p:nvPr/>
        </p:nvSpPr>
        <p:spPr>
          <a:xfrm>
            <a:off x="2152185" y="2351402"/>
            <a:ext cx="10532327" cy="4484296"/>
          </a:xfrm>
          <a:prstGeom prst="rect">
            <a:avLst/>
          </a:prstGeom>
          <a:noFill/>
          <a:ln/>
        </p:spPr>
        <p:txBody>
          <a:bodyPr wrap="square" lIns="0" tIns="0" rIns="0" bIns="0" rtlCol="0" anchor="t"/>
          <a:lstStyle/>
          <a:p>
            <a:pPr marL="0" indent="0" algn="just">
              <a:lnSpc>
                <a:spcPct val="150000"/>
              </a:lnSpc>
              <a:buNone/>
            </a:pPr>
            <a:r>
              <a:rPr lang="en-US" sz="3200" dirty="0">
                <a:solidFill>
                  <a:schemeClr val="bg1"/>
                </a:solidFill>
                <a:ea typeface="Instrument Sans Semi Bold" pitchFamily="34" charset="-122"/>
                <a:cs typeface="Instrument Sans Semi Bold" pitchFamily="34" charset="-120"/>
              </a:rPr>
              <a:t>A Credit card  is a type of loan that lets you borrow money from a bank or financial institution to make purchases, pay bills, or  get cash. When you apply for a credit card, you receive a credit limit, which is the maximum amount  you can  borrow. You can use card to make purchase or get cash, and then pay back the borrowed amount, plus interest, by the due date. </a:t>
            </a:r>
            <a:endParaRPr lang="en-US" sz="3200" dirty="0">
              <a:solidFill>
                <a:schemeClr val="bg1"/>
              </a:solidFill>
            </a:endParaRPr>
          </a:p>
        </p:txBody>
      </p:sp>
      <p:pic>
        <p:nvPicPr>
          <p:cNvPr id="4" name="Picture 3">
            <a:extLst>
              <a:ext uri="{FF2B5EF4-FFF2-40B4-BE49-F238E27FC236}">
                <a16:creationId xmlns:a16="http://schemas.microsoft.com/office/drawing/2014/main" id="{903E3820-74CB-67B6-B95E-2193455E4538}"/>
              </a:ext>
            </a:extLst>
          </p:cNvPr>
          <p:cNvPicPr>
            <a:picLocks noChangeAspect="1"/>
          </p:cNvPicPr>
          <p:nvPr/>
        </p:nvPicPr>
        <p:blipFill>
          <a:blip r:embed="rId3"/>
          <a:stretch>
            <a:fillRect/>
          </a:stretch>
        </p:blipFill>
        <p:spPr>
          <a:xfrm>
            <a:off x="12429818" y="7438915"/>
            <a:ext cx="2200582" cy="7906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837473B0-CC2E-450A-ABE3-18F120FF3D39}">
                <a1611:picAttrSrcUrl xmlns:a1611="http://schemas.microsoft.com/office/drawing/2016/11/main" r:id="rId4"/>
              </a:ext>
            </a:extLst>
          </a:blip>
          <a:srcRect/>
          <a:stretch/>
        </p:blipFill>
        <p:spPr>
          <a:xfrm>
            <a:off x="9144000" y="0"/>
            <a:ext cx="5486400" cy="8229600"/>
          </a:xfrm>
          <a:prstGeom prst="rect">
            <a:avLst/>
          </a:prstGeom>
        </p:spPr>
      </p:pic>
      <p:sp>
        <p:nvSpPr>
          <p:cNvPr id="3" name="Text 0"/>
          <p:cNvSpPr/>
          <p:nvPr/>
        </p:nvSpPr>
        <p:spPr>
          <a:xfrm>
            <a:off x="793790" y="989610"/>
            <a:ext cx="7982220" cy="708779"/>
          </a:xfrm>
          <a:prstGeom prst="rect">
            <a:avLst/>
          </a:prstGeom>
          <a:noFill/>
          <a:ln/>
        </p:spPr>
        <p:txBody>
          <a:bodyPr wrap="none" lIns="0" tIns="0" rIns="0" bIns="0" rtlCol="0" anchor="t"/>
          <a:lstStyle/>
          <a:p>
            <a:pPr marL="0" indent="0">
              <a:lnSpc>
                <a:spcPts val="5550"/>
              </a:lnSpc>
              <a:buNone/>
            </a:pPr>
            <a:r>
              <a:rPr lang="en-US" sz="6600" b="1" dirty="0">
                <a:solidFill>
                  <a:schemeClr val="bg1"/>
                </a:solidFill>
                <a:ea typeface="Instrument Sans Semi Bold" pitchFamily="34" charset="-122"/>
                <a:cs typeface="Instrument Sans Semi Bold" pitchFamily="34" charset="-120"/>
              </a:rPr>
              <a:t>Types of Credit Cards</a:t>
            </a:r>
            <a:endParaRPr lang="en-US" sz="6600" b="1" dirty="0">
              <a:solidFill>
                <a:schemeClr val="bg1"/>
              </a:solidFill>
            </a:endParaRPr>
          </a:p>
        </p:txBody>
      </p:sp>
      <p:sp>
        <p:nvSpPr>
          <p:cNvPr id="4" name="Shape 1"/>
          <p:cNvSpPr/>
          <p:nvPr/>
        </p:nvSpPr>
        <p:spPr>
          <a:xfrm>
            <a:off x="793790" y="2477810"/>
            <a:ext cx="3664863" cy="2047994"/>
          </a:xfrm>
          <a:prstGeom prst="roundRect">
            <a:avLst>
              <a:gd name="adj" fmla="val 4652"/>
            </a:avLst>
          </a:prstGeom>
          <a:solidFill>
            <a:srgbClr val="3D3D42"/>
          </a:solidFill>
          <a:ln w="7620">
            <a:solidFill>
              <a:srgbClr val="56565B"/>
            </a:solidFill>
            <a:prstDash val="solid"/>
          </a:ln>
        </p:spPr>
      </p:sp>
      <p:sp>
        <p:nvSpPr>
          <p:cNvPr id="5" name="Text 2"/>
          <p:cNvSpPr/>
          <p:nvPr/>
        </p:nvSpPr>
        <p:spPr>
          <a:xfrm>
            <a:off x="1028224" y="2712244"/>
            <a:ext cx="2835235"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Rewards Cards</a:t>
            </a:r>
            <a:endParaRPr lang="en-US" sz="3200" b="1" dirty="0">
              <a:solidFill>
                <a:schemeClr val="bg1"/>
              </a:solidFill>
            </a:endParaRPr>
          </a:p>
        </p:txBody>
      </p:sp>
      <p:sp>
        <p:nvSpPr>
          <p:cNvPr id="6" name="Text 3"/>
          <p:cNvSpPr/>
          <p:nvPr/>
        </p:nvSpPr>
        <p:spPr>
          <a:xfrm>
            <a:off x="1028224" y="3202662"/>
            <a:ext cx="3195995" cy="725805"/>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Earn points or miles for rewards.</a:t>
            </a:r>
            <a:endParaRPr lang="en-US" dirty="0">
              <a:solidFill>
                <a:schemeClr val="bg1"/>
              </a:solidFill>
            </a:endParaRPr>
          </a:p>
        </p:txBody>
      </p:sp>
      <p:sp>
        <p:nvSpPr>
          <p:cNvPr id="7" name="Shape 4"/>
          <p:cNvSpPr/>
          <p:nvPr/>
        </p:nvSpPr>
        <p:spPr>
          <a:xfrm>
            <a:off x="4685467" y="2477810"/>
            <a:ext cx="3664863" cy="2047994"/>
          </a:xfrm>
          <a:prstGeom prst="roundRect">
            <a:avLst>
              <a:gd name="adj" fmla="val 4652"/>
            </a:avLst>
          </a:prstGeom>
          <a:solidFill>
            <a:srgbClr val="3D3D42"/>
          </a:solidFill>
          <a:ln w="7620">
            <a:solidFill>
              <a:srgbClr val="56565B"/>
            </a:solidFill>
            <a:prstDash val="solid"/>
          </a:ln>
        </p:spPr>
      </p:sp>
      <p:sp>
        <p:nvSpPr>
          <p:cNvPr id="8" name="Text 5"/>
          <p:cNvSpPr/>
          <p:nvPr/>
        </p:nvSpPr>
        <p:spPr>
          <a:xfrm>
            <a:off x="4919901" y="2712244"/>
            <a:ext cx="2835235"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Travel Cards</a:t>
            </a:r>
            <a:endParaRPr lang="en-US" sz="3200" b="1" dirty="0">
              <a:solidFill>
                <a:schemeClr val="bg1"/>
              </a:solidFill>
            </a:endParaRPr>
          </a:p>
        </p:txBody>
      </p:sp>
      <p:sp>
        <p:nvSpPr>
          <p:cNvPr id="9" name="Text 6"/>
          <p:cNvSpPr/>
          <p:nvPr/>
        </p:nvSpPr>
        <p:spPr>
          <a:xfrm>
            <a:off x="4919901" y="3202662"/>
            <a:ext cx="3195995" cy="1088708"/>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Benefits for travelers, like airport lounge access</a:t>
            </a:r>
            <a:r>
              <a:rPr lang="en-US" sz="1750" dirty="0">
                <a:solidFill>
                  <a:schemeClr val="bg1"/>
                </a:solidFill>
                <a:latin typeface="Instrument Sans Medium" pitchFamily="34" charset="0"/>
                <a:ea typeface="Instrument Sans Medium" pitchFamily="34" charset="-122"/>
                <a:cs typeface="Instrument Sans Medium" pitchFamily="34" charset="-120"/>
              </a:rPr>
              <a:t>.</a:t>
            </a:r>
            <a:endParaRPr lang="en-US" sz="1750" dirty="0">
              <a:solidFill>
                <a:schemeClr val="bg1"/>
              </a:solidFill>
            </a:endParaRPr>
          </a:p>
        </p:txBody>
      </p:sp>
      <p:sp>
        <p:nvSpPr>
          <p:cNvPr id="10" name="Shape 7"/>
          <p:cNvSpPr/>
          <p:nvPr/>
        </p:nvSpPr>
        <p:spPr>
          <a:xfrm>
            <a:off x="793790" y="4752618"/>
            <a:ext cx="3664863" cy="2047994"/>
          </a:xfrm>
          <a:prstGeom prst="roundRect">
            <a:avLst>
              <a:gd name="adj" fmla="val 4652"/>
            </a:avLst>
          </a:prstGeom>
          <a:solidFill>
            <a:srgbClr val="3D3D42"/>
          </a:solidFill>
          <a:ln w="7620">
            <a:solidFill>
              <a:srgbClr val="56565B"/>
            </a:solidFill>
            <a:prstDash val="solid"/>
          </a:ln>
        </p:spPr>
      </p:sp>
      <p:sp>
        <p:nvSpPr>
          <p:cNvPr id="11" name="Text 8"/>
          <p:cNvSpPr/>
          <p:nvPr/>
        </p:nvSpPr>
        <p:spPr>
          <a:xfrm>
            <a:off x="1028224" y="4987052"/>
            <a:ext cx="2835235"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Cash Back Cards</a:t>
            </a:r>
            <a:endParaRPr lang="en-US" sz="3200" b="1" dirty="0">
              <a:solidFill>
                <a:schemeClr val="bg1"/>
              </a:solidFill>
            </a:endParaRPr>
          </a:p>
        </p:txBody>
      </p:sp>
      <p:sp>
        <p:nvSpPr>
          <p:cNvPr id="12" name="Text 9"/>
          <p:cNvSpPr/>
          <p:nvPr/>
        </p:nvSpPr>
        <p:spPr>
          <a:xfrm>
            <a:off x="1028224" y="5477470"/>
            <a:ext cx="3195995" cy="1088708"/>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Get money back on purchases</a:t>
            </a:r>
            <a:r>
              <a:rPr lang="en-US" sz="1750" dirty="0">
                <a:solidFill>
                  <a:schemeClr val="bg1"/>
                </a:solidFill>
                <a:latin typeface="Instrument Sans Medium" pitchFamily="34" charset="0"/>
                <a:ea typeface="Instrument Sans Medium" pitchFamily="34" charset="-122"/>
                <a:cs typeface="Instrument Sans Medium" pitchFamily="34" charset="-120"/>
              </a:rPr>
              <a:t>.</a:t>
            </a:r>
            <a:endParaRPr lang="en-US" sz="1750" dirty="0">
              <a:solidFill>
                <a:schemeClr val="bg1"/>
              </a:solidFill>
            </a:endParaRPr>
          </a:p>
        </p:txBody>
      </p:sp>
      <p:sp>
        <p:nvSpPr>
          <p:cNvPr id="13" name="Shape 10"/>
          <p:cNvSpPr/>
          <p:nvPr/>
        </p:nvSpPr>
        <p:spPr>
          <a:xfrm>
            <a:off x="4685467" y="4752618"/>
            <a:ext cx="3664863" cy="2047994"/>
          </a:xfrm>
          <a:prstGeom prst="roundRect">
            <a:avLst>
              <a:gd name="adj" fmla="val 4652"/>
            </a:avLst>
          </a:prstGeom>
          <a:solidFill>
            <a:srgbClr val="3D3D42"/>
          </a:solidFill>
          <a:ln w="7620">
            <a:solidFill>
              <a:srgbClr val="56565B"/>
            </a:solidFill>
            <a:prstDash val="solid"/>
          </a:ln>
        </p:spPr>
      </p:sp>
      <p:sp>
        <p:nvSpPr>
          <p:cNvPr id="14" name="Text 11"/>
          <p:cNvSpPr/>
          <p:nvPr/>
        </p:nvSpPr>
        <p:spPr>
          <a:xfrm>
            <a:off x="4919901" y="4987052"/>
            <a:ext cx="3062168"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Business Cards</a:t>
            </a:r>
            <a:endParaRPr lang="en-US" sz="3200" b="1" dirty="0">
              <a:solidFill>
                <a:schemeClr val="bg1"/>
              </a:solidFill>
            </a:endParaRPr>
          </a:p>
        </p:txBody>
      </p:sp>
      <p:sp>
        <p:nvSpPr>
          <p:cNvPr id="15" name="Text 12"/>
          <p:cNvSpPr/>
          <p:nvPr/>
        </p:nvSpPr>
        <p:spPr>
          <a:xfrm>
            <a:off x="4919901" y="5477470"/>
            <a:ext cx="3195995" cy="1088708"/>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For business owners, with employee cards.</a:t>
            </a:r>
            <a:endParaRPr lang="en-US" dirty="0">
              <a:solidFill>
                <a:schemeClr val="bg1"/>
              </a:solidFill>
            </a:endParaRPr>
          </a:p>
        </p:txBody>
      </p:sp>
      <p:sp>
        <p:nvSpPr>
          <p:cNvPr id="16" name="TextBox 15">
            <a:extLst>
              <a:ext uri="{FF2B5EF4-FFF2-40B4-BE49-F238E27FC236}">
                <a16:creationId xmlns:a16="http://schemas.microsoft.com/office/drawing/2014/main" id="{229A71CB-2D43-515D-5A05-15E24EC4CCF2}"/>
              </a:ext>
            </a:extLst>
          </p:cNvPr>
          <p:cNvSpPr txBox="1"/>
          <p:nvPr/>
        </p:nvSpPr>
        <p:spPr>
          <a:xfrm>
            <a:off x="9144000" y="5943600"/>
            <a:ext cx="5486400" cy="230832"/>
          </a:xfrm>
          <a:prstGeom prst="rect">
            <a:avLst/>
          </a:prstGeom>
          <a:noFill/>
        </p:spPr>
        <p:txBody>
          <a:bodyPr wrap="square" rtlCol="0">
            <a:spAutoFit/>
          </a:bodyPr>
          <a:lstStyle/>
          <a:p>
            <a:r>
              <a:rPr lang="en-IN" sz="900">
                <a:hlinkClick r:id="rId4" tooltip="https://www.quoteinspector.com/images/credit/secure-credit-cards-bw/"/>
              </a:rPr>
              <a:t>This Photo</a:t>
            </a:r>
            <a:r>
              <a:rPr lang="en-IN" sz="900"/>
              <a:t> by Unknown Author is licensed under </a:t>
            </a:r>
            <a:r>
              <a:rPr lang="en-IN" sz="900">
                <a:hlinkClick r:id="rId5" tooltip="https://creativecommons.org/licenses/by-nd/3.0/"/>
              </a:rPr>
              <a:t>CC BY-ND</a:t>
            </a:r>
            <a:endParaRPr lang="en-IN"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08707" y="1153011"/>
            <a:ext cx="5670590" cy="708779"/>
          </a:xfrm>
          <a:prstGeom prst="rect">
            <a:avLst/>
          </a:prstGeom>
          <a:noFill/>
          <a:ln/>
        </p:spPr>
        <p:txBody>
          <a:bodyPr wrap="none" lIns="0" tIns="0" rIns="0" bIns="0" rtlCol="0" anchor="t"/>
          <a:lstStyle/>
          <a:p>
            <a:pPr marL="0" indent="0" algn="ctr">
              <a:lnSpc>
                <a:spcPts val="5550"/>
              </a:lnSpc>
              <a:buNone/>
            </a:pPr>
            <a:r>
              <a:rPr lang="en-US" sz="7200" b="1" dirty="0">
                <a:solidFill>
                  <a:schemeClr val="bg1"/>
                </a:solidFill>
                <a:latin typeface="+mj-lt"/>
                <a:ea typeface="Instrument Sans Semi Bold" pitchFamily="34" charset="-122"/>
                <a:cs typeface="Instrument Sans Semi Bold" pitchFamily="34" charset="-120"/>
              </a:rPr>
              <a:t>Benefits</a:t>
            </a:r>
            <a:endParaRPr lang="en-US" sz="7200" b="1" dirty="0">
              <a:solidFill>
                <a:schemeClr val="bg1"/>
              </a:solidFill>
              <a:latin typeface="+mj-lt"/>
            </a:endParaRPr>
          </a:p>
        </p:txBody>
      </p:sp>
      <p:sp>
        <p:nvSpPr>
          <p:cNvPr id="4" name="Shape 1"/>
          <p:cNvSpPr/>
          <p:nvPr/>
        </p:nvSpPr>
        <p:spPr>
          <a:xfrm>
            <a:off x="6280190" y="2946678"/>
            <a:ext cx="510302" cy="510302"/>
          </a:xfrm>
          <a:prstGeom prst="roundRect">
            <a:avLst>
              <a:gd name="adj" fmla="val 18669"/>
            </a:avLst>
          </a:prstGeom>
          <a:solidFill>
            <a:srgbClr val="3D3D42"/>
          </a:solidFill>
          <a:ln w="7620">
            <a:solidFill>
              <a:srgbClr val="56565B"/>
            </a:solidFill>
            <a:prstDash val="solid"/>
          </a:ln>
        </p:spPr>
      </p:sp>
      <p:sp>
        <p:nvSpPr>
          <p:cNvPr id="5" name="Text 2"/>
          <p:cNvSpPr/>
          <p:nvPr/>
        </p:nvSpPr>
        <p:spPr>
          <a:xfrm>
            <a:off x="6469499" y="3031688"/>
            <a:ext cx="131683" cy="340281"/>
          </a:xfrm>
          <a:prstGeom prst="rect">
            <a:avLst/>
          </a:prstGeom>
          <a:noFill/>
          <a:ln/>
        </p:spPr>
        <p:txBody>
          <a:bodyPr wrap="none" lIns="0" tIns="0" rIns="0" bIns="0" rtlCol="0" anchor="t"/>
          <a:lstStyle/>
          <a:p>
            <a:pPr marL="0" indent="0" algn="ctr">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1</a:t>
            </a:r>
            <a:endParaRPr lang="en-US" sz="2650" dirty="0"/>
          </a:p>
        </p:txBody>
      </p:sp>
      <p:sp>
        <p:nvSpPr>
          <p:cNvPr id="6" name="Text 3"/>
          <p:cNvSpPr/>
          <p:nvPr/>
        </p:nvSpPr>
        <p:spPr>
          <a:xfrm>
            <a:off x="7017306" y="2946678"/>
            <a:ext cx="2835235"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Convenience</a:t>
            </a:r>
            <a:endParaRPr lang="en-US" sz="3200" b="1" dirty="0">
              <a:solidFill>
                <a:schemeClr val="bg1"/>
              </a:solidFill>
            </a:endParaRPr>
          </a:p>
        </p:txBody>
      </p:sp>
      <p:sp>
        <p:nvSpPr>
          <p:cNvPr id="7" name="Text 4"/>
          <p:cNvSpPr/>
          <p:nvPr/>
        </p:nvSpPr>
        <p:spPr>
          <a:xfrm>
            <a:off x="7017306" y="3437096"/>
            <a:ext cx="2927747" cy="1088708"/>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Easy to use for purchases and payments</a:t>
            </a:r>
            <a:endParaRPr lang="en-US" dirty="0">
              <a:solidFill>
                <a:schemeClr val="bg1"/>
              </a:solidFill>
            </a:endParaRPr>
          </a:p>
        </p:txBody>
      </p:sp>
      <p:sp>
        <p:nvSpPr>
          <p:cNvPr id="8" name="Shape 5"/>
          <p:cNvSpPr/>
          <p:nvPr/>
        </p:nvSpPr>
        <p:spPr>
          <a:xfrm>
            <a:off x="10171867" y="2946678"/>
            <a:ext cx="510302" cy="510302"/>
          </a:xfrm>
          <a:prstGeom prst="roundRect">
            <a:avLst>
              <a:gd name="adj" fmla="val 18669"/>
            </a:avLst>
          </a:prstGeom>
          <a:solidFill>
            <a:srgbClr val="3D3D42"/>
          </a:solidFill>
          <a:ln w="7620">
            <a:solidFill>
              <a:srgbClr val="56565B"/>
            </a:solidFill>
            <a:prstDash val="solid"/>
          </a:ln>
        </p:spPr>
      </p:sp>
      <p:sp>
        <p:nvSpPr>
          <p:cNvPr id="9" name="Text 6"/>
          <p:cNvSpPr/>
          <p:nvPr/>
        </p:nvSpPr>
        <p:spPr>
          <a:xfrm>
            <a:off x="10332244" y="3031688"/>
            <a:ext cx="189548" cy="340281"/>
          </a:xfrm>
          <a:prstGeom prst="rect">
            <a:avLst/>
          </a:prstGeom>
          <a:noFill/>
          <a:ln/>
        </p:spPr>
        <p:txBody>
          <a:bodyPr wrap="none" lIns="0" tIns="0" rIns="0" bIns="0" rtlCol="0" anchor="t"/>
          <a:lstStyle/>
          <a:p>
            <a:pPr marL="0" indent="0" algn="ctr">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2</a:t>
            </a:r>
            <a:endParaRPr lang="en-US" sz="2650" dirty="0"/>
          </a:p>
        </p:txBody>
      </p:sp>
      <p:sp>
        <p:nvSpPr>
          <p:cNvPr id="10" name="Text 7"/>
          <p:cNvSpPr/>
          <p:nvPr/>
        </p:nvSpPr>
        <p:spPr>
          <a:xfrm>
            <a:off x="7092553" y="5007769"/>
            <a:ext cx="2927747" cy="510302"/>
          </a:xfrm>
          <a:prstGeom prst="rect">
            <a:avLst/>
          </a:prstGeom>
          <a:noFill/>
          <a:ln/>
        </p:spPr>
        <p:txBody>
          <a:bodyPr wrap="squar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Rewards</a:t>
            </a:r>
            <a:r>
              <a:rPr lang="en-US" sz="2200" dirty="0">
                <a:solidFill>
                  <a:srgbClr val="CFD0D8"/>
                </a:solidFill>
                <a:latin typeface="Instrument Sans Semi Bold" pitchFamily="34" charset="0"/>
                <a:ea typeface="Instrument Sans Semi Bold" pitchFamily="34" charset="-122"/>
                <a:cs typeface="Instrument Sans Semi Bold" pitchFamily="34" charset="-120"/>
              </a:rPr>
              <a:t> </a:t>
            </a:r>
            <a:endParaRPr lang="en-US" sz="2200" dirty="0"/>
          </a:p>
        </p:txBody>
      </p:sp>
      <p:sp>
        <p:nvSpPr>
          <p:cNvPr id="11" name="Text 8"/>
          <p:cNvSpPr/>
          <p:nvPr/>
        </p:nvSpPr>
        <p:spPr>
          <a:xfrm>
            <a:off x="7017306" y="5521909"/>
            <a:ext cx="2927747" cy="725805"/>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Earn points, miles, or cashback on purchases.</a:t>
            </a:r>
            <a:endParaRPr lang="en-US" dirty="0">
              <a:solidFill>
                <a:schemeClr val="bg1"/>
              </a:solidFill>
            </a:endParaRPr>
          </a:p>
        </p:txBody>
      </p:sp>
      <p:sp>
        <p:nvSpPr>
          <p:cNvPr id="12" name="Shape 9"/>
          <p:cNvSpPr/>
          <p:nvPr/>
        </p:nvSpPr>
        <p:spPr>
          <a:xfrm>
            <a:off x="6280190" y="5007769"/>
            <a:ext cx="510302" cy="510302"/>
          </a:xfrm>
          <a:prstGeom prst="roundRect">
            <a:avLst>
              <a:gd name="adj" fmla="val 18669"/>
            </a:avLst>
          </a:prstGeom>
          <a:solidFill>
            <a:srgbClr val="3D3D42"/>
          </a:solidFill>
          <a:ln w="7620">
            <a:solidFill>
              <a:srgbClr val="56565B"/>
            </a:solidFill>
            <a:prstDash val="solid"/>
          </a:ln>
        </p:spPr>
      </p:sp>
      <p:sp>
        <p:nvSpPr>
          <p:cNvPr id="13" name="Text 10"/>
          <p:cNvSpPr/>
          <p:nvPr/>
        </p:nvSpPr>
        <p:spPr>
          <a:xfrm>
            <a:off x="6436757" y="5092779"/>
            <a:ext cx="197048" cy="340281"/>
          </a:xfrm>
          <a:prstGeom prst="rect">
            <a:avLst/>
          </a:prstGeom>
          <a:noFill/>
          <a:ln/>
        </p:spPr>
        <p:txBody>
          <a:bodyPr wrap="none" lIns="0" tIns="0" rIns="0" bIns="0" rtlCol="0" anchor="t"/>
          <a:lstStyle/>
          <a:p>
            <a:pPr marL="0" indent="0" algn="ctr">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3</a:t>
            </a:r>
            <a:endParaRPr lang="en-US" sz="2650" dirty="0"/>
          </a:p>
        </p:txBody>
      </p:sp>
      <p:sp>
        <p:nvSpPr>
          <p:cNvPr id="14" name="Text 11"/>
          <p:cNvSpPr/>
          <p:nvPr/>
        </p:nvSpPr>
        <p:spPr>
          <a:xfrm>
            <a:off x="10842546" y="2946678"/>
            <a:ext cx="3319503"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Purchase Protection</a:t>
            </a:r>
            <a:endParaRPr lang="en-US" sz="3200" b="1" dirty="0">
              <a:solidFill>
                <a:schemeClr val="bg1"/>
              </a:solidFill>
            </a:endParaRPr>
          </a:p>
        </p:txBody>
      </p:sp>
      <p:sp>
        <p:nvSpPr>
          <p:cNvPr id="15" name="Text 12"/>
          <p:cNvSpPr/>
          <p:nvPr/>
        </p:nvSpPr>
        <p:spPr>
          <a:xfrm>
            <a:off x="10908983" y="3456980"/>
            <a:ext cx="2927747" cy="1088708"/>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You can get coverage against fraud .</a:t>
            </a:r>
            <a:endParaRPr lang="en-US" dirty="0"/>
          </a:p>
        </p:txBody>
      </p:sp>
      <p:sp>
        <p:nvSpPr>
          <p:cNvPr id="16" name="Shape 13"/>
          <p:cNvSpPr/>
          <p:nvPr/>
        </p:nvSpPr>
        <p:spPr>
          <a:xfrm>
            <a:off x="10171867" y="5007769"/>
            <a:ext cx="510302" cy="510302"/>
          </a:xfrm>
          <a:prstGeom prst="roundRect">
            <a:avLst>
              <a:gd name="adj" fmla="val 18669"/>
            </a:avLst>
          </a:prstGeom>
          <a:solidFill>
            <a:srgbClr val="3D3D42"/>
          </a:solidFill>
          <a:ln w="7620">
            <a:solidFill>
              <a:srgbClr val="56565B"/>
            </a:solidFill>
            <a:prstDash val="solid"/>
          </a:ln>
        </p:spPr>
      </p:sp>
      <p:sp>
        <p:nvSpPr>
          <p:cNvPr id="17" name="Text 14"/>
          <p:cNvSpPr/>
          <p:nvPr/>
        </p:nvSpPr>
        <p:spPr>
          <a:xfrm>
            <a:off x="10322362" y="5092779"/>
            <a:ext cx="209312" cy="340281"/>
          </a:xfrm>
          <a:prstGeom prst="rect">
            <a:avLst/>
          </a:prstGeom>
          <a:noFill/>
          <a:ln/>
        </p:spPr>
        <p:txBody>
          <a:bodyPr wrap="none" lIns="0" tIns="0" rIns="0" bIns="0" rtlCol="0" anchor="t"/>
          <a:lstStyle/>
          <a:p>
            <a:pPr marL="0" indent="0" algn="ctr">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4</a:t>
            </a:r>
            <a:endParaRPr lang="en-US" sz="2650" dirty="0"/>
          </a:p>
        </p:txBody>
      </p:sp>
      <p:sp>
        <p:nvSpPr>
          <p:cNvPr id="18" name="Text 15"/>
          <p:cNvSpPr/>
          <p:nvPr/>
        </p:nvSpPr>
        <p:spPr>
          <a:xfrm>
            <a:off x="10908983" y="5007769"/>
            <a:ext cx="2835235" cy="354330"/>
          </a:xfrm>
          <a:prstGeom prst="rect">
            <a:avLst/>
          </a:prstGeom>
          <a:noFill/>
          <a:ln/>
        </p:spPr>
        <p:txBody>
          <a:bodyPr wrap="none" lIns="0" tIns="0" rIns="0" bIns="0" rtlCol="0" anchor="t"/>
          <a:lstStyle/>
          <a:p>
            <a:pPr marL="0" indent="0">
              <a:lnSpc>
                <a:spcPts val="2750"/>
              </a:lnSpc>
              <a:buNone/>
            </a:pPr>
            <a:r>
              <a:rPr lang="en-US" sz="3200" b="1" dirty="0">
                <a:solidFill>
                  <a:schemeClr val="bg1"/>
                </a:solidFill>
                <a:ea typeface="Instrument Sans Semi Bold" pitchFamily="34" charset="-122"/>
                <a:cs typeface="Instrument Sans Semi Bold" pitchFamily="34" charset="-120"/>
              </a:rPr>
              <a:t>Emergency Funds</a:t>
            </a:r>
            <a:endParaRPr lang="en-US" sz="3200" b="1" dirty="0">
              <a:solidFill>
                <a:schemeClr val="bg1"/>
              </a:solidFill>
            </a:endParaRPr>
          </a:p>
        </p:txBody>
      </p:sp>
      <p:sp>
        <p:nvSpPr>
          <p:cNvPr id="19" name="Text 16"/>
          <p:cNvSpPr/>
          <p:nvPr/>
        </p:nvSpPr>
        <p:spPr>
          <a:xfrm>
            <a:off x="10908983" y="5498187"/>
            <a:ext cx="2927747" cy="725805"/>
          </a:xfrm>
          <a:prstGeom prst="rect">
            <a:avLst/>
          </a:prstGeom>
          <a:noFill/>
          <a:ln/>
        </p:spPr>
        <p:txBody>
          <a:bodyPr wrap="square" lIns="0" tIns="0" rIns="0" bIns="0" rtlCol="0" anchor="t"/>
          <a:lstStyle/>
          <a:p>
            <a:pPr marL="0" indent="0">
              <a:lnSpc>
                <a:spcPts val="2850"/>
              </a:lnSpc>
              <a:buNone/>
            </a:pPr>
            <a:r>
              <a:rPr lang="en-US" dirty="0">
                <a:solidFill>
                  <a:schemeClr val="bg1"/>
                </a:solidFill>
                <a:latin typeface="Instrument Sans Medium" pitchFamily="34" charset="0"/>
                <a:ea typeface="Instrument Sans Medium" pitchFamily="34" charset="-122"/>
                <a:cs typeface="Instrument Sans Medium" pitchFamily="34" charset="-120"/>
              </a:rPr>
              <a:t>Provides access to cash in emergency situations.</a:t>
            </a:r>
            <a:endParaRPr lang="en-US" dirty="0">
              <a:solidFill>
                <a:schemeClr val="bg1"/>
              </a:solidFill>
            </a:endParaRPr>
          </a:p>
        </p:txBody>
      </p:sp>
      <p:pic>
        <p:nvPicPr>
          <p:cNvPr id="20" name="Picture 19">
            <a:extLst>
              <a:ext uri="{FF2B5EF4-FFF2-40B4-BE49-F238E27FC236}">
                <a16:creationId xmlns:a16="http://schemas.microsoft.com/office/drawing/2014/main" id="{CDE5EE3A-58C6-8134-91BD-09C0F7BAD3F3}"/>
              </a:ext>
            </a:extLst>
          </p:cNvPr>
          <p:cNvPicPr>
            <a:picLocks noChangeAspect="1"/>
          </p:cNvPicPr>
          <p:nvPr/>
        </p:nvPicPr>
        <p:blipFill>
          <a:blip r:embed="rId4"/>
          <a:stretch>
            <a:fillRect/>
          </a:stretch>
        </p:blipFill>
        <p:spPr>
          <a:xfrm>
            <a:off x="12372856" y="7438915"/>
            <a:ext cx="2200582" cy="7906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9280" y="1172446"/>
            <a:ext cx="12788395" cy="708779"/>
          </a:xfrm>
          <a:prstGeom prst="rect">
            <a:avLst/>
          </a:prstGeom>
          <a:noFill/>
          <a:ln/>
        </p:spPr>
        <p:txBody>
          <a:bodyPr wrap="none" lIns="0" tIns="0" rIns="0" bIns="0" rtlCol="0" anchor="t"/>
          <a:lstStyle/>
          <a:p>
            <a:pPr marL="0" indent="0" algn="ctr">
              <a:lnSpc>
                <a:spcPts val="5550"/>
              </a:lnSpc>
              <a:buNone/>
            </a:pPr>
            <a:r>
              <a:rPr lang="en-US" sz="6600" b="1" dirty="0">
                <a:solidFill>
                  <a:schemeClr val="bg1"/>
                </a:solidFill>
                <a:ea typeface="Instrument Sans Semi Bold" pitchFamily="34" charset="-122"/>
                <a:cs typeface="Instrument Sans Semi Bold" pitchFamily="34" charset="-120"/>
              </a:rPr>
              <a:t>Choosing the Right Card</a:t>
            </a:r>
            <a:endParaRPr lang="en-US" sz="6600" b="1" dirty="0">
              <a:solidFill>
                <a:schemeClr val="bg1"/>
              </a:solidFill>
            </a:endParaRPr>
          </a:p>
        </p:txBody>
      </p:sp>
      <p:pic>
        <p:nvPicPr>
          <p:cNvPr id="3" name="Image 0" descr="preencoded.png"/>
          <p:cNvPicPr>
            <a:picLocks noChangeAspect="1"/>
          </p:cNvPicPr>
          <p:nvPr/>
        </p:nvPicPr>
        <p:blipFill>
          <a:blip r:embed="rId3"/>
          <a:stretch>
            <a:fillRect/>
          </a:stretch>
        </p:blipFill>
        <p:spPr>
          <a:xfrm>
            <a:off x="1360766" y="3416022"/>
            <a:ext cx="566976" cy="566976"/>
          </a:xfrm>
          <a:prstGeom prst="rect">
            <a:avLst/>
          </a:prstGeom>
        </p:spPr>
      </p:pic>
      <p:sp>
        <p:nvSpPr>
          <p:cNvPr id="4" name="Text 1"/>
          <p:cNvSpPr/>
          <p:nvPr/>
        </p:nvSpPr>
        <p:spPr>
          <a:xfrm>
            <a:off x="1360766" y="4244589"/>
            <a:ext cx="2835235" cy="354330"/>
          </a:xfrm>
          <a:prstGeom prst="rect">
            <a:avLst/>
          </a:prstGeom>
          <a:noFill/>
          <a:ln/>
        </p:spPr>
        <p:txBody>
          <a:bodyPr wrap="none" lIns="0" tIns="0" rIns="0" bIns="0" rtlCol="0" anchor="t"/>
          <a:lstStyle/>
          <a:p>
            <a:pPr marL="0" indent="0" algn="l">
              <a:lnSpc>
                <a:spcPts val="2750"/>
              </a:lnSpc>
              <a:buNone/>
            </a:pPr>
            <a:r>
              <a:rPr lang="en-US" sz="3200" b="1" dirty="0">
                <a:solidFill>
                  <a:schemeClr val="bg1"/>
                </a:solidFill>
                <a:ea typeface="Instrument Sans Semi Bold" pitchFamily="34" charset="-122"/>
                <a:cs typeface="Instrument Sans Semi Bold" pitchFamily="34" charset="-120"/>
              </a:rPr>
              <a:t>Low Interest</a:t>
            </a:r>
            <a:endParaRPr lang="en-US" sz="3200" b="1" dirty="0">
              <a:solidFill>
                <a:schemeClr val="bg1"/>
              </a:solidFill>
            </a:endParaRPr>
          </a:p>
        </p:txBody>
      </p:sp>
      <p:sp>
        <p:nvSpPr>
          <p:cNvPr id="5" name="Text 2"/>
          <p:cNvSpPr/>
          <p:nvPr/>
        </p:nvSpPr>
        <p:spPr>
          <a:xfrm>
            <a:off x="1360767" y="4737021"/>
            <a:ext cx="3367350" cy="725805"/>
          </a:xfrm>
          <a:prstGeom prst="rect">
            <a:avLst/>
          </a:prstGeom>
          <a:noFill/>
          <a:ln/>
        </p:spPr>
        <p:txBody>
          <a:bodyPr wrap="square" lIns="0" tIns="0" rIns="0" bIns="0" rtlCol="0" anchor="t"/>
          <a:lstStyle/>
          <a:p>
            <a:pPr marL="0" indent="0" algn="l">
              <a:lnSpc>
                <a:spcPts val="2850"/>
              </a:lnSpc>
              <a:buNone/>
            </a:pPr>
            <a:r>
              <a:rPr lang="en-US" sz="2000" dirty="0">
                <a:solidFill>
                  <a:schemeClr val="bg1"/>
                </a:solidFill>
                <a:ea typeface="Instrument Sans Medium" pitchFamily="34" charset="-122"/>
                <a:cs typeface="Instrument Sans Medium" pitchFamily="34" charset="-120"/>
              </a:rPr>
              <a:t>If you carry a balance or want to save on interest.</a:t>
            </a:r>
            <a:endParaRPr lang="en-US" sz="2000" dirty="0">
              <a:solidFill>
                <a:schemeClr val="bg1"/>
              </a:solidFill>
            </a:endParaRPr>
          </a:p>
        </p:txBody>
      </p:sp>
      <p:pic>
        <p:nvPicPr>
          <p:cNvPr id="6" name="Image 1" descr="preencoded.png"/>
          <p:cNvPicPr>
            <a:picLocks noChangeAspect="1"/>
          </p:cNvPicPr>
          <p:nvPr/>
        </p:nvPicPr>
        <p:blipFill>
          <a:blip r:embed="rId4"/>
          <a:stretch>
            <a:fillRect/>
          </a:stretch>
        </p:blipFill>
        <p:spPr>
          <a:xfrm>
            <a:off x="5723115" y="3452813"/>
            <a:ext cx="566976" cy="566976"/>
          </a:xfrm>
          <a:prstGeom prst="rect">
            <a:avLst/>
          </a:prstGeom>
        </p:spPr>
      </p:pic>
      <p:sp>
        <p:nvSpPr>
          <p:cNvPr id="7" name="Text 3"/>
          <p:cNvSpPr/>
          <p:nvPr/>
        </p:nvSpPr>
        <p:spPr>
          <a:xfrm>
            <a:off x="5723115" y="4246602"/>
            <a:ext cx="2835235" cy="354330"/>
          </a:xfrm>
          <a:prstGeom prst="rect">
            <a:avLst/>
          </a:prstGeom>
          <a:noFill/>
          <a:ln/>
        </p:spPr>
        <p:txBody>
          <a:bodyPr wrap="none" lIns="0" tIns="0" rIns="0" bIns="0" rtlCol="0" anchor="t"/>
          <a:lstStyle/>
          <a:p>
            <a:pPr marL="0" indent="0" algn="l">
              <a:lnSpc>
                <a:spcPts val="2750"/>
              </a:lnSpc>
              <a:buNone/>
            </a:pPr>
            <a:r>
              <a:rPr lang="en-US" sz="3200" b="1" dirty="0">
                <a:solidFill>
                  <a:schemeClr val="bg1"/>
                </a:solidFill>
                <a:ea typeface="Instrument Sans Semi Bold" pitchFamily="34" charset="-122"/>
                <a:cs typeface="Instrument Sans Semi Bold" pitchFamily="34" charset="-120"/>
              </a:rPr>
              <a:t>Compare Offers</a:t>
            </a:r>
            <a:endParaRPr lang="en-US" sz="3200" b="1" dirty="0">
              <a:solidFill>
                <a:schemeClr val="bg1"/>
              </a:solidFill>
            </a:endParaRPr>
          </a:p>
        </p:txBody>
      </p:sp>
      <p:sp>
        <p:nvSpPr>
          <p:cNvPr id="8" name="Text 4"/>
          <p:cNvSpPr/>
          <p:nvPr/>
        </p:nvSpPr>
        <p:spPr>
          <a:xfrm>
            <a:off x="5723115" y="4737021"/>
            <a:ext cx="3736325" cy="950101"/>
          </a:xfrm>
          <a:prstGeom prst="rect">
            <a:avLst/>
          </a:prstGeom>
          <a:noFill/>
          <a:ln/>
        </p:spPr>
        <p:txBody>
          <a:bodyPr wrap="square" lIns="0" tIns="0" rIns="0" bIns="0" rtlCol="0" anchor="t"/>
          <a:lstStyle/>
          <a:p>
            <a:pPr marL="0" indent="0" algn="just">
              <a:lnSpc>
                <a:spcPts val="2850"/>
              </a:lnSpc>
              <a:buNone/>
            </a:pPr>
            <a:r>
              <a:rPr lang="en-US" sz="2000" dirty="0">
                <a:solidFill>
                  <a:schemeClr val="bg1"/>
                </a:solidFill>
                <a:ea typeface="Instrument Sans Medium" pitchFamily="34" charset="-122"/>
                <a:cs typeface="Instrument Sans Medium" pitchFamily="34" charset="-120"/>
              </a:rPr>
              <a:t>Research different cards and their fees, interest rates, and rewards.</a:t>
            </a:r>
            <a:endParaRPr lang="en-US" sz="2000" dirty="0">
              <a:solidFill>
                <a:schemeClr val="bg1"/>
              </a:solidFill>
            </a:endParaRPr>
          </a:p>
        </p:txBody>
      </p:sp>
      <p:pic>
        <p:nvPicPr>
          <p:cNvPr id="9" name="Image 2" descr="preencoded.png"/>
          <p:cNvPicPr>
            <a:picLocks noChangeAspect="1"/>
          </p:cNvPicPr>
          <p:nvPr/>
        </p:nvPicPr>
        <p:blipFill>
          <a:blip r:embed="rId5"/>
          <a:stretch>
            <a:fillRect/>
          </a:stretch>
        </p:blipFill>
        <p:spPr>
          <a:xfrm>
            <a:off x="10652440" y="3416022"/>
            <a:ext cx="566976" cy="566976"/>
          </a:xfrm>
          <a:prstGeom prst="rect">
            <a:avLst/>
          </a:prstGeom>
        </p:spPr>
      </p:pic>
      <p:sp>
        <p:nvSpPr>
          <p:cNvPr id="10" name="Text 5"/>
          <p:cNvSpPr/>
          <p:nvPr/>
        </p:nvSpPr>
        <p:spPr>
          <a:xfrm>
            <a:off x="10652440" y="4246602"/>
            <a:ext cx="2835235" cy="354330"/>
          </a:xfrm>
          <a:prstGeom prst="rect">
            <a:avLst/>
          </a:prstGeom>
          <a:noFill/>
          <a:ln/>
        </p:spPr>
        <p:txBody>
          <a:bodyPr wrap="none" lIns="0" tIns="0" rIns="0" bIns="0" rtlCol="0" anchor="t"/>
          <a:lstStyle/>
          <a:p>
            <a:pPr marL="0" indent="0" algn="l">
              <a:lnSpc>
                <a:spcPts val="2750"/>
              </a:lnSpc>
              <a:buNone/>
            </a:pPr>
            <a:r>
              <a:rPr lang="en-US" sz="3200" b="1" dirty="0">
                <a:solidFill>
                  <a:schemeClr val="bg1"/>
                </a:solidFill>
                <a:ea typeface="Instrument Sans Semi Bold" pitchFamily="34" charset="-122"/>
                <a:cs typeface="Instrument Sans Semi Bold" pitchFamily="34" charset="-120"/>
              </a:rPr>
              <a:t>Reviews</a:t>
            </a:r>
            <a:endParaRPr lang="en-US" sz="3200" b="1" dirty="0">
              <a:solidFill>
                <a:schemeClr val="bg1"/>
              </a:solidFill>
            </a:endParaRPr>
          </a:p>
        </p:txBody>
      </p:sp>
      <p:sp>
        <p:nvSpPr>
          <p:cNvPr id="11" name="Text 6"/>
          <p:cNvSpPr/>
          <p:nvPr/>
        </p:nvSpPr>
        <p:spPr>
          <a:xfrm>
            <a:off x="10652440" y="4737021"/>
            <a:ext cx="2835235" cy="1088708"/>
          </a:xfrm>
          <a:prstGeom prst="rect">
            <a:avLst/>
          </a:prstGeom>
          <a:noFill/>
          <a:ln/>
        </p:spPr>
        <p:txBody>
          <a:bodyPr wrap="square" lIns="0" tIns="0" rIns="0" bIns="0" rtlCol="0" anchor="t"/>
          <a:lstStyle/>
          <a:p>
            <a:pPr marL="0" indent="0" algn="just">
              <a:lnSpc>
                <a:spcPts val="2850"/>
              </a:lnSpc>
              <a:buNone/>
            </a:pPr>
            <a:r>
              <a:rPr lang="en-US" sz="2000" dirty="0">
                <a:solidFill>
                  <a:schemeClr val="bg1"/>
                </a:solidFill>
                <a:ea typeface="Instrument Sans Medium" pitchFamily="34" charset="-122"/>
                <a:cs typeface="Instrument Sans Medium" pitchFamily="34" charset="-120"/>
              </a:rPr>
              <a:t>Read reviews from other cardholders to understand real-world experience.</a:t>
            </a:r>
            <a:endParaRPr lang="en-US" sz="2000" dirty="0">
              <a:solidFill>
                <a:schemeClr val="bg1"/>
              </a:solidFill>
            </a:endParaRPr>
          </a:p>
        </p:txBody>
      </p:sp>
      <p:pic>
        <p:nvPicPr>
          <p:cNvPr id="12" name="Picture 11">
            <a:extLst>
              <a:ext uri="{FF2B5EF4-FFF2-40B4-BE49-F238E27FC236}">
                <a16:creationId xmlns:a16="http://schemas.microsoft.com/office/drawing/2014/main" id="{9EE622A4-8DA2-009B-B301-172949762242}"/>
              </a:ext>
            </a:extLst>
          </p:cNvPr>
          <p:cNvPicPr>
            <a:picLocks noChangeAspect="1"/>
          </p:cNvPicPr>
          <p:nvPr/>
        </p:nvPicPr>
        <p:blipFill>
          <a:blip r:embed="rId6"/>
          <a:stretch>
            <a:fillRect/>
          </a:stretch>
        </p:blipFill>
        <p:spPr>
          <a:xfrm>
            <a:off x="12387384" y="7438915"/>
            <a:ext cx="2200582" cy="7906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934"/>
          </a:xfrm>
          <a:prstGeom prst="rect">
            <a:avLst/>
          </a:prstGeom>
        </p:spPr>
      </p:pic>
      <p:sp>
        <p:nvSpPr>
          <p:cNvPr id="3" name="Text 0"/>
          <p:cNvSpPr/>
          <p:nvPr/>
        </p:nvSpPr>
        <p:spPr>
          <a:xfrm>
            <a:off x="777240" y="610672"/>
            <a:ext cx="7589520" cy="1387793"/>
          </a:xfrm>
          <a:prstGeom prst="rect">
            <a:avLst/>
          </a:prstGeom>
          <a:noFill/>
          <a:ln/>
        </p:spPr>
        <p:txBody>
          <a:bodyPr wrap="square" lIns="0" tIns="0" rIns="0" bIns="0" rtlCol="0" anchor="t"/>
          <a:lstStyle/>
          <a:p>
            <a:pPr marL="0" indent="0" algn="ctr">
              <a:lnSpc>
                <a:spcPts val="5450"/>
              </a:lnSpc>
              <a:buNone/>
            </a:pPr>
            <a:r>
              <a:rPr lang="en-US" sz="6000" b="1" dirty="0">
                <a:solidFill>
                  <a:schemeClr val="bg1"/>
                </a:solidFill>
                <a:ea typeface="Instrument Sans Semi Bold" pitchFamily="34" charset="-122"/>
                <a:cs typeface="Instrument Sans Semi Bold" pitchFamily="34" charset="-120"/>
              </a:rPr>
              <a:t>Findings from the Credit Card Landscape</a:t>
            </a:r>
            <a:endParaRPr lang="en-US" sz="6000" b="1" dirty="0">
              <a:solidFill>
                <a:schemeClr val="bg1"/>
              </a:solidFill>
            </a:endParaRPr>
          </a:p>
        </p:txBody>
      </p:sp>
      <p:sp>
        <p:nvSpPr>
          <p:cNvPr id="4" name="Text 1"/>
          <p:cNvSpPr/>
          <p:nvPr/>
        </p:nvSpPr>
        <p:spPr>
          <a:xfrm>
            <a:off x="1239695" y="2850600"/>
            <a:ext cx="2856148" cy="732830"/>
          </a:xfrm>
          <a:prstGeom prst="rect">
            <a:avLst/>
          </a:prstGeom>
          <a:noFill/>
          <a:ln/>
        </p:spPr>
        <p:txBody>
          <a:bodyPr wrap="none" lIns="0" tIns="0" rIns="0" bIns="0" rtlCol="0" anchor="t"/>
          <a:lstStyle/>
          <a:p>
            <a:pPr marL="0" indent="0" algn="ctr">
              <a:lnSpc>
                <a:spcPts val="5750"/>
              </a:lnSpc>
              <a:buNone/>
            </a:pPr>
            <a:r>
              <a:rPr lang="en-US" sz="5750" dirty="0">
                <a:solidFill>
                  <a:schemeClr val="bg1"/>
                </a:solidFill>
                <a:latin typeface="Instrument Sans Semi Bold" pitchFamily="34" charset="0"/>
                <a:ea typeface="Instrument Sans Semi Bold" pitchFamily="34" charset="-122"/>
                <a:cs typeface="Instrument Sans Semi Bold" pitchFamily="34" charset="-120"/>
              </a:rPr>
              <a:t>270M</a:t>
            </a:r>
            <a:endParaRPr lang="en-US" sz="5750" dirty="0">
              <a:solidFill>
                <a:schemeClr val="bg1"/>
              </a:solidFill>
            </a:endParaRPr>
          </a:p>
        </p:txBody>
      </p:sp>
      <p:sp>
        <p:nvSpPr>
          <p:cNvPr id="5" name="Text 2"/>
          <p:cNvSpPr/>
          <p:nvPr/>
        </p:nvSpPr>
        <p:spPr>
          <a:xfrm>
            <a:off x="1239695" y="3759795"/>
            <a:ext cx="2776180" cy="347067"/>
          </a:xfrm>
          <a:prstGeom prst="rect">
            <a:avLst/>
          </a:prstGeom>
          <a:noFill/>
          <a:ln/>
        </p:spPr>
        <p:txBody>
          <a:bodyPr wrap="none" lIns="0" tIns="0" rIns="0" bIns="0" rtlCol="0" anchor="t"/>
          <a:lstStyle/>
          <a:p>
            <a:pPr marL="0" indent="0" algn="ctr">
              <a:lnSpc>
                <a:spcPts val="2700"/>
              </a:lnSpc>
              <a:buNone/>
            </a:pPr>
            <a:r>
              <a:rPr lang="en-US" sz="2400" dirty="0">
                <a:solidFill>
                  <a:schemeClr val="bg1"/>
                </a:solidFill>
                <a:latin typeface="Instrument Sans Semi Bold" pitchFamily="34" charset="0"/>
                <a:ea typeface="Instrument Sans Semi Bold" pitchFamily="34" charset="-122"/>
                <a:cs typeface="Instrument Sans Semi Bold" pitchFamily="34" charset="-120"/>
              </a:rPr>
              <a:t>Credit Cards</a:t>
            </a:r>
            <a:endParaRPr lang="en-US" sz="2400" dirty="0">
              <a:solidFill>
                <a:schemeClr val="bg1"/>
              </a:solidFill>
            </a:endParaRPr>
          </a:p>
        </p:txBody>
      </p:sp>
      <p:sp>
        <p:nvSpPr>
          <p:cNvPr id="6" name="Text 3"/>
          <p:cNvSpPr/>
          <p:nvPr/>
        </p:nvSpPr>
        <p:spPr>
          <a:xfrm>
            <a:off x="1115122" y="4253116"/>
            <a:ext cx="3192594" cy="710565"/>
          </a:xfrm>
          <a:prstGeom prst="rect">
            <a:avLst/>
          </a:prstGeom>
          <a:noFill/>
          <a:ln/>
        </p:spPr>
        <p:txBody>
          <a:bodyPr wrap="square" lIns="0" tIns="0" rIns="0" bIns="0" rtlCol="0" anchor="t"/>
          <a:lstStyle/>
          <a:p>
            <a:pPr marL="0" indent="0" algn="ctr">
              <a:lnSpc>
                <a:spcPts val="2750"/>
              </a:lnSpc>
              <a:buNone/>
            </a:pPr>
            <a:r>
              <a:rPr lang="en-US" dirty="0">
                <a:solidFill>
                  <a:schemeClr val="bg1"/>
                </a:solidFill>
                <a:latin typeface="Instrument Sans Medium" pitchFamily="34" charset="0"/>
                <a:ea typeface="Instrument Sans Medium" pitchFamily="34" charset="-122"/>
                <a:cs typeface="Instrument Sans Medium" pitchFamily="34" charset="-120"/>
              </a:rPr>
              <a:t>The number of outstanding credit cards in the U.S.</a:t>
            </a:r>
            <a:endParaRPr lang="en-US" dirty="0">
              <a:solidFill>
                <a:schemeClr val="bg1"/>
              </a:solidFill>
            </a:endParaRPr>
          </a:p>
        </p:txBody>
      </p:sp>
      <p:sp>
        <p:nvSpPr>
          <p:cNvPr id="7" name="Text 4"/>
          <p:cNvSpPr/>
          <p:nvPr/>
        </p:nvSpPr>
        <p:spPr>
          <a:xfrm>
            <a:off x="5214873" y="2850600"/>
            <a:ext cx="2776180" cy="732830"/>
          </a:xfrm>
          <a:prstGeom prst="rect">
            <a:avLst/>
          </a:prstGeom>
          <a:noFill/>
          <a:ln/>
        </p:spPr>
        <p:txBody>
          <a:bodyPr wrap="none" lIns="0" tIns="0" rIns="0" bIns="0" rtlCol="0" anchor="t"/>
          <a:lstStyle/>
          <a:p>
            <a:pPr marL="0" indent="0" algn="ctr">
              <a:lnSpc>
                <a:spcPts val="5750"/>
              </a:lnSpc>
              <a:buNone/>
            </a:pPr>
            <a:r>
              <a:rPr lang="en-US" sz="5750" dirty="0">
                <a:solidFill>
                  <a:schemeClr val="bg1"/>
                </a:solidFill>
                <a:latin typeface="Instrument Sans Semi Bold" pitchFamily="34" charset="0"/>
                <a:ea typeface="Instrument Sans Semi Bold" pitchFamily="34" charset="-122"/>
                <a:cs typeface="Instrument Sans Semi Bold" pitchFamily="34" charset="-120"/>
              </a:rPr>
              <a:t>7,300</a:t>
            </a:r>
            <a:endParaRPr lang="en-US" sz="5750" dirty="0">
              <a:solidFill>
                <a:schemeClr val="bg1"/>
              </a:solidFill>
            </a:endParaRPr>
          </a:p>
        </p:txBody>
      </p:sp>
      <p:sp>
        <p:nvSpPr>
          <p:cNvPr id="8" name="Text 5"/>
          <p:cNvSpPr/>
          <p:nvPr/>
        </p:nvSpPr>
        <p:spPr>
          <a:xfrm>
            <a:off x="5219122" y="3755134"/>
            <a:ext cx="2776180" cy="347067"/>
          </a:xfrm>
          <a:prstGeom prst="rect">
            <a:avLst/>
          </a:prstGeom>
          <a:noFill/>
          <a:ln/>
        </p:spPr>
        <p:txBody>
          <a:bodyPr wrap="none" lIns="0" tIns="0" rIns="0" bIns="0" rtlCol="0" anchor="t"/>
          <a:lstStyle/>
          <a:p>
            <a:pPr marL="0" indent="0" algn="ctr">
              <a:lnSpc>
                <a:spcPts val="2700"/>
              </a:lnSpc>
              <a:buNone/>
            </a:pPr>
            <a:r>
              <a:rPr lang="en-US" sz="2400" dirty="0">
                <a:solidFill>
                  <a:schemeClr val="bg1"/>
                </a:solidFill>
                <a:latin typeface="Instrument Sans Semi Bold" pitchFamily="34" charset="0"/>
                <a:ea typeface="Instrument Sans Semi Bold" pitchFamily="34" charset="-122"/>
                <a:cs typeface="Instrument Sans Semi Bold" pitchFamily="34" charset="-120"/>
              </a:rPr>
              <a:t>Average Credit Score</a:t>
            </a:r>
            <a:endParaRPr lang="en-US" sz="2400" dirty="0">
              <a:solidFill>
                <a:schemeClr val="bg1"/>
              </a:solidFill>
            </a:endParaRPr>
          </a:p>
        </p:txBody>
      </p:sp>
      <p:sp>
        <p:nvSpPr>
          <p:cNvPr id="9" name="Text 6"/>
          <p:cNvSpPr/>
          <p:nvPr/>
        </p:nvSpPr>
        <p:spPr>
          <a:xfrm>
            <a:off x="5084956" y="4233927"/>
            <a:ext cx="3281804" cy="710565"/>
          </a:xfrm>
          <a:prstGeom prst="rect">
            <a:avLst/>
          </a:prstGeom>
          <a:noFill/>
          <a:ln/>
        </p:spPr>
        <p:txBody>
          <a:bodyPr wrap="square" lIns="0" tIns="0" rIns="0" bIns="0" rtlCol="0" anchor="t"/>
          <a:lstStyle/>
          <a:p>
            <a:pPr marL="0" indent="0" algn="ctr">
              <a:lnSpc>
                <a:spcPts val="2750"/>
              </a:lnSpc>
              <a:buNone/>
            </a:pPr>
            <a:r>
              <a:rPr lang="en-US" dirty="0">
                <a:solidFill>
                  <a:schemeClr val="bg1"/>
                </a:solidFill>
                <a:latin typeface="Instrument Sans Medium" pitchFamily="34" charset="0"/>
                <a:ea typeface="Instrument Sans Medium" pitchFamily="34" charset="-122"/>
                <a:cs typeface="Instrument Sans Medium" pitchFamily="34" charset="-120"/>
              </a:rPr>
              <a:t>The national average credit score in 2023.</a:t>
            </a:r>
            <a:endParaRPr lang="en-US" dirty="0">
              <a:solidFill>
                <a:schemeClr val="bg1"/>
              </a:solidFill>
            </a:endParaRPr>
          </a:p>
        </p:txBody>
      </p:sp>
      <p:sp>
        <p:nvSpPr>
          <p:cNvPr id="10" name="Text 7"/>
          <p:cNvSpPr/>
          <p:nvPr/>
        </p:nvSpPr>
        <p:spPr>
          <a:xfrm>
            <a:off x="2924471" y="5716627"/>
            <a:ext cx="3628192" cy="732830"/>
          </a:xfrm>
          <a:prstGeom prst="rect">
            <a:avLst/>
          </a:prstGeom>
          <a:noFill/>
          <a:ln/>
        </p:spPr>
        <p:txBody>
          <a:bodyPr wrap="none" lIns="0" tIns="0" rIns="0" bIns="0" rtlCol="0" anchor="t"/>
          <a:lstStyle/>
          <a:p>
            <a:pPr marL="0" indent="0" algn="ctr">
              <a:lnSpc>
                <a:spcPts val="5750"/>
              </a:lnSpc>
              <a:buNone/>
            </a:pPr>
            <a:r>
              <a:rPr lang="en-US" sz="5750" dirty="0">
                <a:solidFill>
                  <a:schemeClr val="bg1"/>
                </a:solidFill>
                <a:latin typeface="Instrument Sans Semi Bold" pitchFamily="34" charset="0"/>
                <a:ea typeface="Instrument Sans Semi Bold" pitchFamily="34" charset="-122"/>
                <a:cs typeface="Instrument Sans Semi Bold" pitchFamily="34" charset="-120"/>
              </a:rPr>
              <a:t>7%</a:t>
            </a:r>
            <a:endParaRPr lang="en-US" sz="5750" dirty="0">
              <a:solidFill>
                <a:schemeClr val="bg1"/>
              </a:solidFill>
            </a:endParaRPr>
          </a:p>
        </p:txBody>
      </p:sp>
      <p:sp>
        <p:nvSpPr>
          <p:cNvPr id="11" name="Text 8"/>
          <p:cNvSpPr/>
          <p:nvPr/>
        </p:nvSpPr>
        <p:spPr>
          <a:xfrm>
            <a:off x="3350477" y="6581183"/>
            <a:ext cx="2776180" cy="347067"/>
          </a:xfrm>
          <a:prstGeom prst="rect">
            <a:avLst/>
          </a:prstGeom>
          <a:noFill/>
          <a:ln/>
        </p:spPr>
        <p:txBody>
          <a:bodyPr wrap="none" lIns="0" tIns="0" rIns="0" bIns="0" rtlCol="0" anchor="t"/>
          <a:lstStyle/>
          <a:p>
            <a:pPr marL="0" indent="0" algn="ctr">
              <a:lnSpc>
                <a:spcPts val="2700"/>
              </a:lnSpc>
              <a:buNone/>
            </a:pPr>
            <a:r>
              <a:rPr lang="en-US" sz="2150" dirty="0">
                <a:solidFill>
                  <a:schemeClr val="bg1"/>
                </a:solidFill>
                <a:latin typeface="Instrument Sans Semi Bold" pitchFamily="34" charset="0"/>
                <a:ea typeface="Instrument Sans Semi Bold" pitchFamily="34" charset="-122"/>
                <a:cs typeface="Instrument Sans Semi Bold" pitchFamily="34" charset="-120"/>
              </a:rPr>
              <a:t>Credit Card Debt</a:t>
            </a:r>
            <a:endParaRPr lang="en-US" sz="2150" dirty="0">
              <a:solidFill>
                <a:schemeClr val="bg1"/>
              </a:solidFill>
            </a:endParaRPr>
          </a:p>
        </p:txBody>
      </p:sp>
      <p:sp>
        <p:nvSpPr>
          <p:cNvPr id="12" name="Text 9"/>
          <p:cNvSpPr/>
          <p:nvPr/>
        </p:nvSpPr>
        <p:spPr>
          <a:xfrm>
            <a:off x="2975003" y="7056000"/>
            <a:ext cx="3577660" cy="710565"/>
          </a:xfrm>
          <a:prstGeom prst="rect">
            <a:avLst/>
          </a:prstGeom>
          <a:noFill/>
          <a:ln/>
        </p:spPr>
        <p:txBody>
          <a:bodyPr wrap="square" lIns="0" tIns="0" rIns="0" bIns="0" rtlCol="0" anchor="t"/>
          <a:lstStyle/>
          <a:p>
            <a:pPr marL="0" indent="0" algn="ctr">
              <a:lnSpc>
                <a:spcPts val="2750"/>
              </a:lnSpc>
              <a:buNone/>
            </a:pPr>
            <a:r>
              <a:rPr lang="en-US" dirty="0">
                <a:solidFill>
                  <a:schemeClr val="bg1"/>
                </a:solidFill>
                <a:latin typeface="Instrument Sans Medium" pitchFamily="34" charset="0"/>
                <a:ea typeface="Instrument Sans Medium" pitchFamily="34" charset="-122"/>
                <a:cs typeface="Instrument Sans Medium" pitchFamily="34" charset="-120"/>
              </a:rPr>
              <a:t>Percentage of Americans carrying credit card debt</a:t>
            </a:r>
            <a:r>
              <a:rPr lang="en-US" dirty="0">
                <a:solidFill>
                  <a:srgbClr val="CFD0D8"/>
                </a:solidFill>
                <a:latin typeface="Instrument Sans Medium" pitchFamily="34" charset="0"/>
                <a:ea typeface="Instrument Sans Medium" pitchFamily="34" charset="-122"/>
                <a:cs typeface="Instrument Sans Medium" pitchFamily="34" charset="-120"/>
              </a:rPr>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41794" y="741196"/>
            <a:ext cx="3501483" cy="708779"/>
          </a:xfrm>
          <a:prstGeom prst="rect">
            <a:avLst/>
          </a:prstGeom>
          <a:noFill/>
          <a:ln/>
        </p:spPr>
        <p:txBody>
          <a:bodyPr wrap="none" lIns="0" tIns="0" rIns="0" bIns="0" rtlCol="0" anchor="t"/>
          <a:lstStyle/>
          <a:p>
            <a:pPr marL="0" indent="0" algn="ctr">
              <a:lnSpc>
                <a:spcPts val="5550"/>
              </a:lnSpc>
              <a:buNone/>
            </a:pPr>
            <a:r>
              <a:rPr lang="en-US" sz="8000" b="1" dirty="0">
                <a:solidFill>
                  <a:schemeClr val="bg1"/>
                </a:solidFill>
              </a:rPr>
              <a:t>Findings</a:t>
            </a:r>
          </a:p>
        </p:txBody>
      </p:sp>
      <p:sp>
        <p:nvSpPr>
          <p:cNvPr id="5" name="Text 2"/>
          <p:cNvSpPr/>
          <p:nvPr/>
        </p:nvSpPr>
        <p:spPr>
          <a:xfrm>
            <a:off x="5357217" y="3155156"/>
            <a:ext cx="2515553" cy="354330"/>
          </a:xfrm>
          <a:prstGeom prst="rect">
            <a:avLst/>
          </a:prstGeom>
          <a:noFill/>
          <a:ln/>
        </p:spPr>
        <p:txBody>
          <a:bodyPr wrap="none" lIns="0" tIns="0" rIns="0" bIns="0" rtlCol="0" anchor="t"/>
          <a:lstStyle/>
          <a:p>
            <a:pPr marL="0" indent="0" algn="l">
              <a:lnSpc>
                <a:spcPts val="2750"/>
              </a:lnSpc>
              <a:buNone/>
            </a:pPr>
            <a:endParaRPr lang="en-US" sz="2200" dirty="0"/>
          </a:p>
        </p:txBody>
      </p:sp>
      <p:pic>
        <p:nvPicPr>
          <p:cNvPr id="16" name="Picture 15">
            <a:extLst>
              <a:ext uri="{FF2B5EF4-FFF2-40B4-BE49-F238E27FC236}">
                <a16:creationId xmlns:a16="http://schemas.microsoft.com/office/drawing/2014/main" id="{E8967965-6FE7-7D23-C191-6A0A0B5DF497}"/>
              </a:ext>
            </a:extLst>
          </p:cNvPr>
          <p:cNvPicPr>
            <a:picLocks noChangeAspect="1"/>
          </p:cNvPicPr>
          <p:nvPr/>
        </p:nvPicPr>
        <p:blipFill>
          <a:blip r:embed="rId3"/>
          <a:stretch>
            <a:fillRect/>
          </a:stretch>
        </p:blipFill>
        <p:spPr>
          <a:xfrm>
            <a:off x="12429818" y="7438915"/>
            <a:ext cx="2200582" cy="790685"/>
          </a:xfrm>
          <a:prstGeom prst="rect">
            <a:avLst/>
          </a:prstGeom>
        </p:spPr>
      </p:pic>
      <p:sp>
        <p:nvSpPr>
          <p:cNvPr id="17" name="TextBox 16">
            <a:extLst>
              <a:ext uri="{FF2B5EF4-FFF2-40B4-BE49-F238E27FC236}">
                <a16:creationId xmlns:a16="http://schemas.microsoft.com/office/drawing/2014/main" id="{46231815-8E28-D66D-26EE-1ABC1CCE9C66}"/>
              </a:ext>
            </a:extLst>
          </p:cNvPr>
          <p:cNvSpPr txBox="1"/>
          <p:nvPr/>
        </p:nvSpPr>
        <p:spPr>
          <a:xfrm>
            <a:off x="1962615" y="2018369"/>
            <a:ext cx="10861287" cy="3970318"/>
          </a:xfrm>
          <a:prstGeom prst="rect">
            <a:avLst/>
          </a:prstGeom>
          <a:noFill/>
        </p:spPr>
        <p:txBody>
          <a:bodyPr wrap="square" rtlCol="0">
            <a:spAutoFit/>
          </a:bodyPr>
          <a:lstStyle/>
          <a:p>
            <a:pPr marL="285750" indent="-285750" algn="just">
              <a:buFont typeface="Wingdings" panose="05000000000000000000" pitchFamily="2" charset="2"/>
              <a:buChar char="v"/>
            </a:pPr>
            <a:r>
              <a:rPr lang="en-IN" sz="2800" dirty="0">
                <a:solidFill>
                  <a:schemeClr val="bg1"/>
                </a:solidFill>
              </a:rPr>
              <a:t>Blue cards are the most popular, followed by Silver, Gold, Platinum</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Women tend to have higher transaction amounts than men.</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Graduate degree  holders have the highest transaction amounts, while uneducated individuals have the lowest.</a:t>
            </a:r>
          </a:p>
          <a:p>
            <a:pPr algn="just"/>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Married individuals hold the majority of credit cards, followed by singles.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2708" y="1182434"/>
            <a:ext cx="13042821" cy="708779"/>
          </a:xfrm>
          <a:prstGeom prst="rect">
            <a:avLst/>
          </a:prstGeom>
          <a:noFill/>
          <a:ln/>
        </p:spPr>
        <p:txBody>
          <a:bodyPr wrap="none" lIns="0" tIns="0" rIns="0" bIns="0" rtlCol="0" anchor="t"/>
          <a:lstStyle/>
          <a:p>
            <a:pPr marL="0" indent="0" algn="ctr">
              <a:lnSpc>
                <a:spcPts val="5550"/>
              </a:lnSpc>
              <a:buNone/>
            </a:pPr>
            <a:r>
              <a:rPr lang="en-US" sz="8000" b="1" dirty="0">
                <a:solidFill>
                  <a:schemeClr val="bg1"/>
                </a:solidFill>
                <a:ea typeface="Instrument Sans Semi Bold" pitchFamily="34" charset="-122"/>
                <a:cs typeface="Instrument Sans Semi Bold" pitchFamily="34" charset="-120"/>
              </a:rPr>
              <a:t>Conclusion</a:t>
            </a:r>
            <a:endParaRPr lang="en-US" sz="8000" b="1" dirty="0">
              <a:solidFill>
                <a:schemeClr val="bg1"/>
              </a:solidFill>
            </a:endParaRPr>
          </a:p>
        </p:txBody>
      </p:sp>
      <p:sp>
        <p:nvSpPr>
          <p:cNvPr id="4" name="TextBox 3">
            <a:extLst>
              <a:ext uri="{FF2B5EF4-FFF2-40B4-BE49-F238E27FC236}">
                <a16:creationId xmlns:a16="http://schemas.microsoft.com/office/drawing/2014/main" id="{88C12453-6BD0-AEBB-1C36-FBAD60778FA5}"/>
              </a:ext>
            </a:extLst>
          </p:cNvPr>
          <p:cNvSpPr txBox="1"/>
          <p:nvPr/>
        </p:nvSpPr>
        <p:spPr>
          <a:xfrm>
            <a:off x="2358482" y="2654910"/>
            <a:ext cx="9913435" cy="4448013"/>
          </a:xfrm>
          <a:prstGeom prst="rect">
            <a:avLst/>
          </a:prstGeom>
          <a:noFill/>
        </p:spPr>
        <p:txBody>
          <a:bodyPr wrap="square" rtlCol="0">
            <a:spAutoFit/>
          </a:bodyPr>
          <a:lstStyle/>
          <a:p>
            <a:pPr algn="just">
              <a:lnSpc>
                <a:spcPct val="150000"/>
              </a:lnSpc>
            </a:pPr>
            <a:r>
              <a:rPr lang="en-US" sz="3200" dirty="0">
                <a:solidFill>
                  <a:schemeClr val="bg1"/>
                </a:solidFill>
              </a:rPr>
              <a:t>This Credit cards analysis dashboard shows that most cardholders are married college graduates who hold silver cards. Women are more likely to have a credit card than men. This information can help credit card companies better understand their customers and develop targeted marketing campaigns.</a:t>
            </a:r>
            <a:endParaRPr lang="en-IN" sz="3200" dirty="0">
              <a:solidFill>
                <a:schemeClr val="bg1"/>
              </a:solidFill>
            </a:endParaRPr>
          </a:p>
        </p:txBody>
      </p:sp>
      <p:pic>
        <p:nvPicPr>
          <p:cNvPr id="3" name="Picture 2">
            <a:extLst>
              <a:ext uri="{FF2B5EF4-FFF2-40B4-BE49-F238E27FC236}">
                <a16:creationId xmlns:a16="http://schemas.microsoft.com/office/drawing/2014/main" id="{49EE086A-952E-F676-3BB9-CF9C0C5F6B76}"/>
              </a:ext>
            </a:extLst>
          </p:cNvPr>
          <p:cNvPicPr>
            <a:picLocks noChangeAspect="1"/>
          </p:cNvPicPr>
          <p:nvPr/>
        </p:nvPicPr>
        <p:blipFill>
          <a:blip r:embed="rId3"/>
          <a:stretch>
            <a:fillRect/>
          </a:stretch>
        </p:blipFill>
        <p:spPr>
          <a:xfrm>
            <a:off x="12429818" y="7438915"/>
            <a:ext cx="2200582" cy="790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0979" y="3797841"/>
            <a:ext cx="7556421" cy="841429"/>
          </a:xfrm>
          <a:prstGeom prst="rect">
            <a:avLst/>
          </a:prstGeom>
          <a:noFill/>
          <a:ln/>
        </p:spPr>
        <p:txBody>
          <a:bodyPr wrap="none" lIns="0" tIns="0" rIns="0" bIns="0" rtlCol="0" anchor="t"/>
          <a:lstStyle/>
          <a:p>
            <a:pPr marL="0" indent="0" algn="ctr">
              <a:lnSpc>
                <a:spcPts val="5550"/>
              </a:lnSpc>
              <a:buNone/>
            </a:pPr>
            <a:r>
              <a:rPr lang="en-US" sz="8000" b="1" dirty="0">
                <a:solidFill>
                  <a:schemeClr val="bg1"/>
                </a:solidFill>
                <a:ea typeface="Instrument Sans Semi Bold" pitchFamily="34" charset="-122"/>
                <a:cs typeface="Instrument Sans Semi Bold" pitchFamily="34" charset="-120"/>
              </a:rPr>
              <a:t>Thank you</a:t>
            </a:r>
            <a:endParaRPr lang="en-US" sz="8000" b="1" dirty="0">
              <a:solidFill>
                <a:schemeClr val="bg1"/>
              </a:solidFill>
            </a:endParaRPr>
          </a:p>
        </p:txBody>
      </p:sp>
      <p:sp>
        <p:nvSpPr>
          <p:cNvPr id="4" name="Text 1"/>
          <p:cNvSpPr/>
          <p:nvPr/>
        </p:nvSpPr>
        <p:spPr>
          <a:xfrm>
            <a:off x="6280190" y="4457819"/>
            <a:ext cx="7556421" cy="362903"/>
          </a:xfrm>
          <a:prstGeom prst="rect">
            <a:avLst/>
          </a:prstGeom>
          <a:noFill/>
          <a:ln/>
        </p:spPr>
        <p:txBody>
          <a:bodyPr wrap="none" lIns="0" tIns="0" rIns="0" bIns="0" rtlCol="0" anchor="t"/>
          <a:lstStyle/>
          <a:p>
            <a:pPr marL="0" indent="0">
              <a:lnSpc>
                <a:spcPts val="2850"/>
              </a:lnSpc>
              <a:buNone/>
            </a:pPr>
            <a:endParaRPr lang="en-US" sz="1750" dirty="0"/>
          </a:p>
        </p:txBody>
      </p:sp>
      <p:pic>
        <p:nvPicPr>
          <p:cNvPr id="6" name="Image 0">
            <a:extLst>
              <a:ext uri="{FF2B5EF4-FFF2-40B4-BE49-F238E27FC236}">
                <a16:creationId xmlns:a16="http://schemas.microsoft.com/office/drawing/2014/main" id="{890CF4F1-C51F-B3C1-FA8A-A5A8E20EA094}"/>
              </a:ext>
            </a:extLst>
          </p:cNvPr>
          <p:cNvPicPr>
            <a:picLocks noChangeAspect="1"/>
          </p:cNvPicPr>
          <p:nvPr/>
        </p:nvPicPr>
        <p:blipFill>
          <a:blip r:embed="rId4"/>
          <a:stretch>
            <a:fillRect/>
          </a:stretch>
        </p:blipFill>
        <p:spPr>
          <a:xfrm>
            <a:off x="0" y="2857"/>
            <a:ext cx="5486400" cy="8229600"/>
          </a:xfrm>
          <a:prstGeom prst="rect">
            <a:avLst/>
          </a:prstGeom>
        </p:spPr>
      </p:pic>
      <p:pic>
        <p:nvPicPr>
          <p:cNvPr id="5" name="Picture 4">
            <a:extLst>
              <a:ext uri="{FF2B5EF4-FFF2-40B4-BE49-F238E27FC236}">
                <a16:creationId xmlns:a16="http://schemas.microsoft.com/office/drawing/2014/main" id="{B03BF721-2C24-B18A-7530-73E420870BE0}"/>
              </a:ext>
            </a:extLst>
          </p:cNvPr>
          <p:cNvPicPr>
            <a:picLocks noChangeAspect="1"/>
          </p:cNvPicPr>
          <p:nvPr/>
        </p:nvPicPr>
        <p:blipFill>
          <a:blip r:embed="rId5"/>
          <a:stretch>
            <a:fillRect/>
          </a:stretch>
        </p:blipFill>
        <p:spPr>
          <a:xfrm>
            <a:off x="12429818" y="7438915"/>
            <a:ext cx="2200582" cy="7906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TotalTime>
  <Words>387</Words>
  <Application>Microsoft Office PowerPoint</Application>
  <PresentationFormat>Custom</PresentationFormat>
  <Paragraphs>65</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Instrument Sans Medium</vt:lpstr>
      <vt:lpstr>Times New Roman</vt:lpstr>
      <vt:lpstr>Arial</vt:lpstr>
      <vt:lpstr>Instrument Sans Semi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RIJU SARANG</cp:lastModifiedBy>
  <cp:revision>8</cp:revision>
  <dcterms:created xsi:type="dcterms:W3CDTF">2025-01-17T18:09:14Z</dcterms:created>
  <dcterms:modified xsi:type="dcterms:W3CDTF">2025-01-25T05:22:31Z</dcterms:modified>
</cp:coreProperties>
</file>