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Book Antiqua" panose="02040602050305030304" pitchFamily="18" charset="0"/>
      <p:regular r:id="rId12"/>
      <p:bold r:id="rId13"/>
      <p:italic r:id="rId14"/>
      <p:boldItalic r:id="rId15"/>
    </p:embeddedFont>
    <p:embeddedFont>
      <p:font typeface="Quattrocento" panose="02020502030000000404" pitchFamily="18" charset="0"/>
      <p:regular r:id="rId16"/>
      <p:bold r:id="rId17"/>
    </p:embeddedFont>
    <p:embeddedFont>
      <p:font typeface="Roboto" panose="02000000000000000000" pitchFamily="2"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742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3" y="1471961"/>
            <a:ext cx="7804471" cy="4025591"/>
          </a:xfrm>
          <a:prstGeom prst="rect">
            <a:avLst/>
          </a:prstGeom>
          <a:noFill/>
          <a:ln/>
        </p:spPr>
        <p:txBody>
          <a:bodyPr wrap="none" lIns="0" tIns="0" rIns="0" bIns="0" rtlCol="0" anchor="ctr"/>
          <a:lstStyle/>
          <a:p>
            <a:pPr marL="0" indent="0">
              <a:buNone/>
            </a:pPr>
            <a:r>
              <a:rPr lang="en-US" sz="7200" b="1" dirty="0">
                <a:solidFill>
                  <a:srgbClr val="FFD9BE"/>
                </a:solidFill>
                <a:latin typeface="Quattrocento" pitchFamily="34" charset="0"/>
                <a:ea typeface="Quattrocento" pitchFamily="34" charset="-122"/>
                <a:cs typeface="Quattrocento" pitchFamily="34" charset="-120"/>
              </a:rPr>
              <a:t>   DATA SCIENCE </a:t>
            </a:r>
          </a:p>
          <a:p>
            <a:pPr marL="0" indent="0" algn="ctr">
              <a:buNone/>
            </a:pPr>
            <a:r>
              <a:rPr lang="en-US" sz="7200" b="1" dirty="0">
                <a:solidFill>
                  <a:srgbClr val="FFD9BE"/>
                </a:solidFill>
                <a:latin typeface="Quattrocento" pitchFamily="34" charset="0"/>
                <a:ea typeface="Quattrocento" pitchFamily="34" charset="-122"/>
                <a:cs typeface="Quattrocento" pitchFamily="34" charset="-120"/>
              </a:rPr>
              <a:t>JOB SALARIES</a:t>
            </a:r>
            <a:endParaRPr lang="en-US" sz="7200" b="1" dirty="0"/>
          </a:p>
        </p:txBody>
      </p:sp>
      <p:sp>
        <p:nvSpPr>
          <p:cNvPr id="4" name="Text 1"/>
          <p:cNvSpPr/>
          <p:nvPr/>
        </p:nvSpPr>
        <p:spPr>
          <a:xfrm>
            <a:off x="837724" y="4454723"/>
            <a:ext cx="7468553" cy="383024"/>
          </a:xfrm>
          <a:prstGeom prst="rect">
            <a:avLst/>
          </a:prstGeom>
          <a:noFill/>
          <a:ln/>
        </p:spPr>
        <p:txBody>
          <a:bodyPr wrap="none" lIns="0" tIns="0" rIns="0" bIns="0" rtlCol="0" anchor="t"/>
          <a:lstStyle/>
          <a:p>
            <a:pPr marL="0" indent="0">
              <a:lnSpc>
                <a:spcPts val="3000"/>
              </a:lnSpc>
              <a:buNone/>
            </a:pPr>
            <a:r>
              <a:rPr lang="en-US" sz="1850" dirty="0">
                <a:solidFill>
                  <a:srgbClr val="F9EEE7"/>
                </a:solidFill>
                <a:latin typeface="Quattrocento" pitchFamily="34" charset="0"/>
                <a:ea typeface="Quattrocento" pitchFamily="34" charset="-122"/>
                <a:cs typeface="Quattrocento" pitchFamily="34" charset="-120"/>
              </a:rPr>
              <a:t>.</a:t>
            </a:r>
            <a:endParaRPr lang="en-US" sz="1850" dirty="0"/>
          </a:p>
        </p:txBody>
      </p:sp>
      <p:sp>
        <p:nvSpPr>
          <p:cNvPr id="5" name="TextBox 4">
            <a:extLst>
              <a:ext uri="{FF2B5EF4-FFF2-40B4-BE49-F238E27FC236}">
                <a16:creationId xmlns:a16="http://schemas.microsoft.com/office/drawing/2014/main" id="{DCAE9B38-A898-37DF-D1E5-921F92A77F94}"/>
              </a:ext>
            </a:extLst>
          </p:cNvPr>
          <p:cNvSpPr txBox="1"/>
          <p:nvPr/>
        </p:nvSpPr>
        <p:spPr>
          <a:xfrm>
            <a:off x="2832815" y="4837747"/>
            <a:ext cx="3872920" cy="461665"/>
          </a:xfrm>
          <a:prstGeom prst="rect">
            <a:avLst/>
          </a:prstGeom>
          <a:noFill/>
        </p:spPr>
        <p:txBody>
          <a:bodyPr wrap="none" rtlCol="0">
            <a:spAutoFit/>
          </a:bodyPr>
          <a:lstStyle/>
          <a:p>
            <a:r>
              <a:rPr lang="en-IN" sz="2400" dirty="0">
                <a:solidFill>
                  <a:schemeClr val="bg1"/>
                </a:solidFill>
              </a:rPr>
              <a:t>Presented by ARYANANDA VP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3" y="869795"/>
            <a:ext cx="12811369" cy="1014761"/>
          </a:xfrm>
          <a:prstGeom prst="rect">
            <a:avLst/>
          </a:prstGeom>
          <a:noFill/>
          <a:ln/>
        </p:spPr>
        <p:txBody>
          <a:bodyPr wrap="none" lIns="0" tIns="0" rIns="0" bIns="0" rtlCol="0" anchor="t"/>
          <a:lstStyle/>
          <a:p>
            <a:pPr marL="0" indent="0" algn="ctr">
              <a:lnSpc>
                <a:spcPts val="5500"/>
              </a:lnSpc>
              <a:buNone/>
            </a:pPr>
            <a:r>
              <a:rPr lang="en-US" sz="7200" b="1" dirty="0">
                <a:solidFill>
                  <a:srgbClr val="FFD9BE"/>
                </a:solidFill>
                <a:latin typeface="Book Antiqua" panose="02040602050305030304" pitchFamily="18" charset="0"/>
                <a:ea typeface="Quattrocento" pitchFamily="34" charset="-122"/>
                <a:cs typeface="Quattrocento" pitchFamily="34" charset="-120"/>
              </a:rPr>
              <a:t>Introduction</a:t>
            </a:r>
            <a:endParaRPr lang="en-US" sz="7200" b="1" dirty="0">
              <a:latin typeface="Book Antiqua" panose="02040602050305030304" pitchFamily="18" charset="0"/>
            </a:endParaRPr>
          </a:p>
        </p:txBody>
      </p:sp>
      <p:sp>
        <p:nvSpPr>
          <p:cNvPr id="3" name="Text 1"/>
          <p:cNvSpPr/>
          <p:nvPr/>
        </p:nvSpPr>
        <p:spPr>
          <a:xfrm>
            <a:off x="837724" y="3788093"/>
            <a:ext cx="2816185" cy="351949"/>
          </a:xfrm>
          <a:prstGeom prst="rect">
            <a:avLst/>
          </a:prstGeom>
          <a:noFill/>
          <a:ln/>
        </p:spPr>
        <p:txBody>
          <a:bodyPr wrap="none" lIns="0" tIns="0" rIns="0" bIns="0" rtlCol="0" anchor="t"/>
          <a:lstStyle/>
          <a:p>
            <a:pPr marL="0" indent="0">
              <a:lnSpc>
                <a:spcPts val="2750"/>
              </a:lnSpc>
              <a:buNone/>
            </a:pPr>
            <a:endParaRPr lang="en-US" sz="2200" dirty="0"/>
          </a:p>
        </p:txBody>
      </p:sp>
      <p:sp>
        <p:nvSpPr>
          <p:cNvPr id="4" name="Text 2"/>
          <p:cNvSpPr/>
          <p:nvPr/>
        </p:nvSpPr>
        <p:spPr>
          <a:xfrm>
            <a:off x="837724" y="4379357"/>
            <a:ext cx="6185535" cy="766048"/>
          </a:xfrm>
          <a:prstGeom prst="rect">
            <a:avLst/>
          </a:prstGeom>
          <a:noFill/>
          <a:ln/>
        </p:spPr>
        <p:txBody>
          <a:bodyPr wrap="square" lIns="0" tIns="0" rIns="0" bIns="0" rtlCol="0" anchor="t"/>
          <a:lstStyle/>
          <a:p>
            <a:pPr marL="0" indent="0">
              <a:lnSpc>
                <a:spcPts val="3000"/>
              </a:lnSpc>
              <a:buNone/>
            </a:pPr>
            <a:endParaRPr lang="en-US" sz="1850" dirty="0"/>
          </a:p>
        </p:txBody>
      </p:sp>
      <p:sp>
        <p:nvSpPr>
          <p:cNvPr id="5" name="Text 3"/>
          <p:cNvSpPr/>
          <p:nvPr/>
        </p:nvSpPr>
        <p:spPr>
          <a:xfrm>
            <a:off x="7614761" y="3788093"/>
            <a:ext cx="2816185" cy="351949"/>
          </a:xfrm>
          <a:prstGeom prst="rect">
            <a:avLst/>
          </a:prstGeom>
          <a:noFill/>
          <a:ln/>
        </p:spPr>
        <p:txBody>
          <a:bodyPr wrap="none" lIns="0" tIns="0" rIns="0" bIns="0" rtlCol="0" anchor="t"/>
          <a:lstStyle/>
          <a:p>
            <a:pPr marL="0" indent="0">
              <a:lnSpc>
                <a:spcPts val="2750"/>
              </a:lnSpc>
              <a:buNone/>
            </a:pPr>
            <a:endParaRPr lang="en-US" sz="2200" dirty="0"/>
          </a:p>
        </p:txBody>
      </p:sp>
      <p:sp>
        <p:nvSpPr>
          <p:cNvPr id="6" name="Text 4"/>
          <p:cNvSpPr/>
          <p:nvPr/>
        </p:nvSpPr>
        <p:spPr>
          <a:xfrm>
            <a:off x="7219583" y="4290147"/>
            <a:ext cx="6185535" cy="1149072"/>
          </a:xfrm>
          <a:prstGeom prst="rect">
            <a:avLst/>
          </a:prstGeom>
          <a:noFill/>
          <a:ln/>
        </p:spPr>
        <p:txBody>
          <a:bodyPr wrap="square" lIns="0" tIns="0" rIns="0" bIns="0" rtlCol="0" anchor="t"/>
          <a:lstStyle/>
          <a:p>
            <a:pPr marL="0" indent="0">
              <a:lnSpc>
                <a:spcPts val="3000"/>
              </a:lnSpc>
              <a:buNone/>
            </a:pPr>
            <a:endParaRPr lang="en-US" sz="1850" dirty="0"/>
          </a:p>
        </p:txBody>
      </p:sp>
      <p:sp>
        <p:nvSpPr>
          <p:cNvPr id="8" name="TextBox 7">
            <a:extLst>
              <a:ext uri="{FF2B5EF4-FFF2-40B4-BE49-F238E27FC236}">
                <a16:creationId xmlns:a16="http://schemas.microsoft.com/office/drawing/2014/main" id="{C63B22EE-6BF0-4026-5CEE-A931AF893D00}"/>
              </a:ext>
            </a:extLst>
          </p:cNvPr>
          <p:cNvSpPr txBox="1"/>
          <p:nvPr/>
        </p:nvSpPr>
        <p:spPr>
          <a:xfrm>
            <a:off x="1828800" y="2522566"/>
            <a:ext cx="10894741" cy="3713581"/>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Data science is a field that helps us make sense of data to make better decision. Data scientists use math, statistics, and computer skills to analyze and interpret data. The Data science job salaries vary based on location, experience, and skills</a:t>
            </a:r>
            <a:r>
              <a:rPr lang="en-US" sz="3200" dirty="0">
                <a:solidFill>
                  <a:srgbClr val="F9EEE7"/>
                </a:solidFill>
                <a:latin typeface="Quattrocento" pitchFamily="34" charset="0"/>
              </a:rPr>
              <a: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292EA0BB-8ED9-A037-A97F-DCF60C4BA62F}"/>
              </a:ext>
            </a:extLst>
          </p:cNvPr>
          <p:cNvPicPr>
            <a:picLocks noChangeAspect="1"/>
          </p:cNvPicPr>
          <p:nvPr/>
        </p:nvPicPr>
        <p:blipFill>
          <a:blip r:embed="rId3"/>
          <a:stretch>
            <a:fillRect/>
          </a:stretch>
        </p:blipFill>
        <p:spPr>
          <a:xfrm>
            <a:off x="12552450" y="7507771"/>
            <a:ext cx="1910682" cy="6001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910"/>
          </a:xfrm>
          <a:prstGeom prst="rect">
            <a:avLst/>
          </a:prstGeom>
        </p:spPr>
      </p:pic>
      <p:sp>
        <p:nvSpPr>
          <p:cNvPr id="3" name="Text 0"/>
          <p:cNvSpPr/>
          <p:nvPr/>
        </p:nvSpPr>
        <p:spPr>
          <a:xfrm>
            <a:off x="6317218" y="652820"/>
            <a:ext cx="7482364" cy="1396603"/>
          </a:xfrm>
          <a:prstGeom prst="rect">
            <a:avLst/>
          </a:prstGeom>
          <a:noFill/>
          <a:ln/>
        </p:spPr>
        <p:txBody>
          <a:bodyPr wrap="square" lIns="0" tIns="0" rIns="0" bIns="0" rtlCol="0" anchor="t"/>
          <a:lstStyle/>
          <a:p>
            <a:pPr marL="0" indent="0" algn="ctr">
              <a:lnSpc>
                <a:spcPts val="5450"/>
              </a:lnSpc>
              <a:buNone/>
            </a:pPr>
            <a:r>
              <a:rPr lang="en-US" sz="4800" b="1" dirty="0">
                <a:solidFill>
                  <a:srgbClr val="FFD9BE"/>
                </a:solidFill>
                <a:latin typeface="Book Antiqua" panose="02040602050305030304" pitchFamily="18" charset="0"/>
                <a:ea typeface="Quattrocento" pitchFamily="34" charset="-122"/>
                <a:cs typeface="Quattrocento" pitchFamily="34" charset="-120"/>
              </a:rPr>
              <a:t>Factors Influencing Data Scientist Salaries</a:t>
            </a:r>
            <a:endParaRPr lang="en-US" sz="4800" b="1" dirty="0">
              <a:latin typeface="Book Antiqua" panose="02040602050305030304" pitchFamily="18" charset="0"/>
            </a:endParaRPr>
          </a:p>
        </p:txBody>
      </p:sp>
      <p:sp>
        <p:nvSpPr>
          <p:cNvPr id="4" name="Shape 1"/>
          <p:cNvSpPr/>
          <p:nvPr/>
        </p:nvSpPr>
        <p:spPr>
          <a:xfrm>
            <a:off x="6317218" y="2565100"/>
            <a:ext cx="534114" cy="534114"/>
          </a:xfrm>
          <a:prstGeom prst="roundRect">
            <a:avLst>
              <a:gd name="adj" fmla="val 6667"/>
            </a:avLst>
          </a:prstGeom>
          <a:solidFill>
            <a:srgbClr val="315251"/>
          </a:solidFill>
          <a:ln/>
        </p:spPr>
      </p:sp>
      <p:sp>
        <p:nvSpPr>
          <p:cNvPr id="5" name="Text 2"/>
          <p:cNvSpPr/>
          <p:nvPr/>
        </p:nvSpPr>
        <p:spPr>
          <a:xfrm>
            <a:off x="6509220" y="2672477"/>
            <a:ext cx="118705" cy="335161"/>
          </a:xfrm>
          <a:prstGeom prst="rect">
            <a:avLst/>
          </a:prstGeom>
          <a:noFill/>
          <a:ln/>
        </p:spPr>
        <p:txBody>
          <a:bodyPr wrap="none" lIns="0" tIns="0" rIns="0" bIns="0" rtlCol="0" anchor="t"/>
          <a:lstStyle/>
          <a:p>
            <a:pPr marL="0" indent="0" algn="ctr">
              <a:lnSpc>
                <a:spcPts val="2600"/>
              </a:lnSpc>
              <a:buNone/>
            </a:pPr>
            <a:r>
              <a:rPr lang="en-US" sz="2600" dirty="0">
                <a:solidFill>
                  <a:srgbClr val="F9EEE7"/>
                </a:solidFill>
                <a:latin typeface="Quattrocento" pitchFamily="34" charset="0"/>
                <a:ea typeface="Quattrocento" pitchFamily="34" charset="-122"/>
                <a:cs typeface="Quattrocento" pitchFamily="34" charset="-120"/>
              </a:rPr>
              <a:t>1</a:t>
            </a:r>
            <a:endParaRPr lang="en-US" sz="2600" dirty="0"/>
          </a:p>
        </p:txBody>
      </p:sp>
      <p:sp>
        <p:nvSpPr>
          <p:cNvPr id="6" name="Text 3"/>
          <p:cNvSpPr/>
          <p:nvPr/>
        </p:nvSpPr>
        <p:spPr>
          <a:xfrm>
            <a:off x="7088624" y="2672477"/>
            <a:ext cx="2792968" cy="349091"/>
          </a:xfrm>
          <a:prstGeom prst="rect">
            <a:avLst/>
          </a:prstGeom>
          <a:noFill/>
          <a:ln/>
        </p:spPr>
        <p:txBody>
          <a:bodyPr wrap="none" lIns="0" tIns="0" rIns="0" bIns="0" rtlCol="0" anchor="t"/>
          <a:lstStyle/>
          <a:p>
            <a:pPr marL="0" indent="0">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Experience</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7" name="Text 4"/>
          <p:cNvSpPr/>
          <p:nvPr/>
        </p:nvSpPr>
        <p:spPr>
          <a:xfrm>
            <a:off x="7088624" y="3163967"/>
            <a:ext cx="2851190" cy="1139428"/>
          </a:xfrm>
          <a:prstGeom prst="rect">
            <a:avLst/>
          </a:prstGeom>
          <a:noFill/>
          <a:ln/>
        </p:spPr>
        <p:txBody>
          <a:bodyPr wrap="square" lIns="0" tIns="0" rIns="0" bIns="0" rtlCol="0" anchor="t"/>
          <a:lstStyle/>
          <a:p>
            <a:pPr marL="0" indent="0" algn="just">
              <a:lnSpc>
                <a:spcPts val="295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Years of experience in the field significantly impact salary potential.</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8" name="Shape 5"/>
          <p:cNvSpPr/>
          <p:nvPr/>
        </p:nvSpPr>
        <p:spPr>
          <a:xfrm>
            <a:off x="10177105" y="2581113"/>
            <a:ext cx="534114" cy="534114"/>
          </a:xfrm>
          <a:prstGeom prst="roundRect">
            <a:avLst>
              <a:gd name="adj" fmla="val 6667"/>
            </a:avLst>
          </a:prstGeom>
          <a:solidFill>
            <a:srgbClr val="315251"/>
          </a:solidFill>
          <a:ln/>
        </p:spPr>
      </p:sp>
      <p:sp>
        <p:nvSpPr>
          <p:cNvPr id="9" name="Text 6"/>
          <p:cNvSpPr/>
          <p:nvPr/>
        </p:nvSpPr>
        <p:spPr>
          <a:xfrm>
            <a:off x="10354270" y="2662254"/>
            <a:ext cx="179665" cy="335161"/>
          </a:xfrm>
          <a:prstGeom prst="rect">
            <a:avLst/>
          </a:prstGeom>
          <a:noFill/>
          <a:ln/>
        </p:spPr>
        <p:txBody>
          <a:bodyPr wrap="none" lIns="0" tIns="0" rIns="0" bIns="0" rtlCol="0" anchor="t"/>
          <a:lstStyle/>
          <a:p>
            <a:pPr marL="0" indent="0" algn="ctr">
              <a:lnSpc>
                <a:spcPts val="2600"/>
              </a:lnSpc>
              <a:buNone/>
            </a:pPr>
            <a:r>
              <a:rPr lang="en-US" sz="2600" dirty="0">
                <a:solidFill>
                  <a:srgbClr val="F9EEE7"/>
                </a:solidFill>
                <a:latin typeface="Quattrocento" pitchFamily="34" charset="0"/>
                <a:ea typeface="Quattrocento" pitchFamily="34" charset="-122"/>
                <a:cs typeface="Quattrocento" pitchFamily="34" charset="-120"/>
              </a:rPr>
              <a:t>2</a:t>
            </a:r>
            <a:endParaRPr lang="en-US" sz="2600" dirty="0"/>
          </a:p>
        </p:txBody>
      </p:sp>
      <p:sp>
        <p:nvSpPr>
          <p:cNvPr id="10" name="Text 7"/>
          <p:cNvSpPr/>
          <p:nvPr/>
        </p:nvSpPr>
        <p:spPr>
          <a:xfrm>
            <a:off x="10948511" y="2672477"/>
            <a:ext cx="2792968" cy="349091"/>
          </a:xfrm>
          <a:prstGeom prst="rect">
            <a:avLst/>
          </a:prstGeom>
          <a:noFill/>
          <a:ln/>
        </p:spPr>
        <p:txBody>
          <a:bodyPr wrap="none" lIns="0" tIns="0" rIns="0" bIns="0" rtlCol="0" anchor="t"/>
          <a:lstStyle/>
          <a:p>
            <a:pPr marL="0" indent="0">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Location</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1" name="Text 8"/>
          <p:cNvSpPr/>
          <p:nvPr/>
        </p:nvSpPr>
        <p:spPr>
          <a:xfrm>
            <a:off x="10948511" y="3163967"/>
            <a:ext cx="2851190" cy="1519238"/>
          </a:xfrm>
          <a:prstGeom prst="rect">
            <a:avLst/>
          </a:prstGeom>
          <a:noFill/>
          <a:ln/>
        </p:spPr>
        <p:txBody>
          <a:bodyPr wrap="square" lIns="0" tIns="0" rIns="0" bIns="0" rtlCol="0" anchor="t"/>
          <a:lstStyle/>
          <a:p>
            <a:pPr marL="0" indent="0" algn="just">
              <a:lnSpc>
                <a:spcPts val="295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Salaries vary significantly depending on the location, with tech hubs often offering higher pay.</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2" name="Shape 9"/>
          <p:cNvSpPr/>
          <p:nvPr/>
        </p:nvSpPr>
        <p:spPr>
          <a:xfrm>
            <a:off x="6317218" y="5027905"/>
            <a:ext cx="534114" cy="534114"/>
          </a:xfrm>
          <a:prstGeom prst="roundRect">
            <a:avLst>
              <a:gd name="adj" fmla="val 6667"/>
            </a:avLst>
          </a:prstGeom>
          <a:solidFill>
            <a:srgbClr val="315251"/>
          </a:solidFill>
          <a:ln/>
        </p:spPr>
      </p:sp>
      <p:sp>
        <p:nvSpPr>
          <p:cNvPr id="13" name="Text 10"/>
          <p:cNvSpPr/>
          <p:nvPr/>
        </p:nvSpPr>
        <p:spPr>
          <a:xfrm>
            <a:off x="6477429" y="5127381"/>
            <a:ext cx="182285" cy="335161"/>
          </a:xfrm>
          <a:prstGeom prst="rect">
            <a:avLst/>
          </a:prstGeom>
          <a:noFill/>
          <a:ln/>
        </p:spPr>
        <p:txBody>
          <a:bodyPr wrap="none" lIns="0" tIns="0" rIns="0" bIns="0" rtlCol="0" anchor="t"/>
          <a:lstStyle/>
          <a:p>
            <a:pPr marL="0" indent="0" algn="ctr">
              <a:lnSpc>
                <a:spcPts val="2600"/>
              </a:lnSpc>
              <a:buNone/>
            </a:pPr>
            <a:r>
              <a:rPr lang="en-US" sz="2600" dirty="0">
                <a:solidFill>
                  <a:srgbClr val="F9EEE7"/>
                </a:solidFill>
                <a:latin typeface="Quattrocento" pitchFamily="34" charset="0"/>
                <a:ea typeface="Quattrocento" pitchFamily="34" charset="-122"/>
                <a:cs typeface="Quattrocento" pitchFamily="34" charset="-120"/>
              </a:rPr>
              <a:t>3</a:t>
            </a:r>
            <a:endParaRPr lang="en-US" sz="2600" dirty="0"/>
          </a:p>
        </p:txBody>
      </p:sp>
      <p:sp>
        <p:nvSpPr>
          <p:cNvPr id="14" name="Text 11"/>
          <p:cNvSpPr/>
          <p:nvPr/>
        </p:nvSpPr>
        <p:spPr>
          <a:xfrm>
            <a:off x="7088624" y="5187553"/>
            <a:ext cx="2792968" cy="349091"/>
          </a:xfrm>
          <a:prstGeom prst="rect">
            <a:avLst/>
          </a:prstGeom>
          <a:noFill/>
          <a:ln/>
        </p:spPr>
        <p:txBody>
          <a:bodyPr wrap="none" lIns="0" tIns="0" rIns="0" bIns="0" rtlCol="0" anchor="t"/>
          <a:lstStyle/>
          <a:p>
            <a:pPr marL="0" indent="0">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Industry</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5" name="Text 12"/>
          <p:cNvSpPr/>
          <p:nvPr/>
        </p:nvSpPr>
        <p:spPr>
          <a:xfrm>
            <a:off x="7088624" y="5679043"/>
            <a:ext cx="2851190" cy="1899047"/>
          </a:xfrm>
          <a:prstGeom prst="rect">
            <a:avLst/>
          </a:prstGeom>
          <a:noFill/>
          <a:ln/>
        </p:spPr>
        <p:txBody>
          <a:bodyPr wrap="square" lIns="0" tIns="0" rIns="0" bIns="0" rtlCol="0" anchor="t"/>
          <a:lstStyle/>
          <a:p>
            <a:pPr marL="0" indent="0" algn="just">
              <a:lnSpc>
                <a:spcPts val="295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Certain industries, like finance and technology, typically offer higher salaries.</a:t>
            </a: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6" name="Shape 13"/>
          <p:cNvSpPr/>
          <p:nvPr/>
        </p:nvSpPr>
        <p:spPr>
          <a:xfrm>
            <a:off x="10177105" y="5088017"/>
            <a:ext cx="534114" cy="534114"/>
          </a:xfrm>
          <a:prstGeom prst="roundRect">
            <a:avLst>
              <a:gd name="adj" fmla="val 6667"/>
            </a:avLst>
          </a:prstGeom>
          <a:solidFill>
            <a:srgbClr val="315251"/>
          </a:solidFill>
          <a:ln/>
        </p:spPr>
      </p:sp>
      <p:sp>
        <p:nvSpPr>
          <p:cNvPr id="17" name="Text 14"/>
          <p:cNvSpPr/>
          <p:nvPr/>
        </p:nvSpPr>
        <p:spPr>
          <a:xfrm>
            <a:off x="10359033" y="5187493"/>
            <a:ext cx="170259" cy="335161"/>
          </a:xfrm>
          <a:prstGeom prst="rect">
            <a:avLst/>
          </a:prstGeom>
          <a:noFill/>
          <a:ln/>
        </p:spPr>
        <p:txBody>
          <a:bodyPr wrap="none" lIns="0" tIns="0" rIns="0" bIns="0" rtlCol="0" anchor="t"/>
          <a:lstStyle/>
          <a:p>
            <a:pPr marL="0" indent="0" algn="ctr">
              <a:lnSpc>
                <a:spcPts val="2600"/>
              </a:lnSpc>
              <a:buNone/>
            </a:pPr>
            <a:r>
              <a:rPr lang="en-US" sz="2600" dirty="0">
                <a:solidFill>
                  <a:srgbClr val="F9EEE7"/>
                </a:solidFill>
                <a:latin typeface="Quattrocento" pitchFamily="34" charset="0"/>
                <a:ea typeface="Quattrocento" pitchFamily="34" charset="-122"/>
                <a:cs typeface="Quattrocento" pitchFamily="34" charset="-120"/>
              </a:rPr>
              <a:t>4</a:t>
            </a:r>
            <a:endParaRPr lang="en-US" sz="2600" dirty="0"/>
          </a:p>
        </p:txBody>
      </p:sp>
      <p:sp>
        <p:nvSpPr>
          <p:cNvPr id="18" name="Text 15"/>
          <p:cNvSpPr/>
          <p:nvPr/>
        </p:nvSpPr>
        <p:spPr>
          <a:xfrm>
            <a:off x="10948511" y="5187553"/>
            <a:ext cx="2792968" cy="349091"/>
          </a:xfrm>
          <a:prstGeom prst="rect">
            <a:avLst/>
          </a:prstGeom>
          <a:noFill/>
          <a:ln/>
        </p:spPr>
        <p:txBody>
          <a:bodyPr wrap="none" lIns="0" tIns="0" rIns="0" bIns="0" rtlCol="0" anchor="t"/>
          <a:lstStyle/>
          <a:p>
            <a:pPr marL="0" indent="0">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Education</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9" name="Text 16"/>
          <p:cNvSpPr/>
          <p:nvPr/>
        </p:nvSpPr>
        <p:spPr>
          <a:xfrm>
            <a:off x="10948511" y="5679043"/>
            <a:ext cx="2851190" cy="1899047"/>
          </a:xfrm>
          <a:prstGeom prst="rect">
            <a:avLst/>
          </a:prstGeom>
          <a:noFill/>
          <a:ln/>
        </p:spPr>
        <p:txBody>
          <a:bodyPr wrap="square" lIns="0" tIns="0" rIns="0" bIns="0" rtlCol="0" anchor="t"/>
          <a:lstStyle/>
          <a:p>
            <a:pPr marL="0" indent="0" algn="just">
              <a:lnSpc>
                <a:spcPts val="295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A educational background, such as a master's degree in data science, can enhance earning potential.</a:t>
            </a:r>
            <a:endParaRPr lang="en-US" dirty="0">
              <a:latin typeface="Roboto" panose="02000000000000000000" pitchFamily="2" charset="0"/>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E7657527-F1F3-1B18-3CC4-05A624722889}"/>
              </a:ext>
            </a:extLst>
          </p:cNvPr>
          <p:cNvPicPr>
            <a:picLocks noChangeAspect="1"/>
          </p:cNvPicPr>
          <p:nvPr/>
        </p:nvPicPr>
        <p:blipFill>
          <a:blip r:embed="rId4"/>
          <a:stretch>
            <a:fillRect/>
          </a:stretch>
        </p:blipFill>
        <p:spPr>
          <a:xfrm>
            <a:off x="12578576" y="7702032"/>
            <a:ext cx="1914310" cy="4424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469112" y="847494"/>
            <a:ext cx="11692056" cy="1697230"/>
          </a:xfrm>
          <a:prstGeom prst="rect">
            <a:avLst/>
          </a:prstGeom>
          <a:noFill/>
          <a:ln/>
        </p:spPr>
        <p:txBody>
          <a:bodyPr wrap="none" lIns="0" tIns="0" rIns="0" bIns="0" rtlCol="0" anchor="t"/>
          <a:lstStyle/>
          <a:p>
            <a:pPr marL="0" indent="0" algn="ctr">
              <a:buNone/>
            </a:pPr>
            <a:r>
              <a:rPr lang="en-US" sz="6000" b="1" dirty="0">
                <a:solidFill>
                  <a:srgbClr val="FFD9BE"/>
                </a:solidFill>
                <a:latin typeface="Quattrocento" pitchFamily="34" charset="0"/>
                <a:ea typeface="Quattrocento" pitchFamily="34" charset="-122"/>
                <a:cs typeface="Quattrocento" pitchFamily="34" charset="-120"/>
              </a:rPr>
              <a:t>Typical Data Scientist </a:t>
            </a:r>
          </a:p>
          <a:p>
            <a:pPr marL="0" indent="0" algn="ctr">
              <a:buNone/>
            </a:pPr>
            <a:r>
              <a:rPr lang="en-US" sz="6000" b="1" dirty="0">
                <a:solidFill>
                  <a:srgbClr val="FFD9BE"/>
                </a:solidFill>
                <a:latin typeface="Quattrocento" pitchFamily="34" charset="0"/>
                <a:ea typeface="Quattrocento" pitchFamily="34" charset="-122"/>
                <a:cs typeface="Quattrocento" pitchFamily="34" charset="-120"/>
              </a:rPr>
              <a:t>Salary Ranges</a:t>
            </a:r>
            <a:endParaRPr lang="en-US" sz="6000" b="1" dirty="0"/>
          </a:p>
        </p:txBody>
      </p:sp>
      <p:sp>
        <p:nvSpPr>
          <p:cNvPr id="3" name="Text 1"/>
          <p:cNvSpPr/>
          <p:nvPr/>
        </p:nvSpPr>
        <p:spPr>
          <a:xfrm>
            <a:off x="837724" y="3406377"/>
            <a:ext cx="4078962" cy="789861"/>
          </a:xfrm>
          <a:prstGeom prst="rect">
            <a:avLst/>
          </a:prstGeom>
          <a:noFill/>
          <a:ln/>
        </p:spPr>
        <p:txBody>
          <a:bodyPr wrap="none" lIns="0" tIns="0" rIns="0" bIns="0" rtlCol="0" anchor="t"/>
          <a:lstStyle/>
          <a:p>
            <a:pPr marL="0" indent="0" algn="ctr">
              <a:lnSpc>
                <a:spcPts val="6200"/>
              </a:lnSpc>
              <a:buNone/>
            </a:pPr>
            <a:r>
              <a:rPr lang="en-US" sz="4800" dirty="0">
                <a:solidFill>
                  <a:srgbClr val="F9EEE7"/>
                </a:solidFill>
                <a:latin typeface="Quattrocento" pitchFamily="34" charset="0"/>
                <a:ea typeface="Quattrocento" pitchFamily="34" charset="-122"/>
                <a:cs typeface="Quattrocento" pitchFamily="34" charset="-120"/>
              </a:rPr>
              <a:t>$80K</a:t>
            </a:r>
            <a:endParaRPr lang="en-US" sz="4800" dirty="0"/>
          </a:p>
        </p:txBody>
      </p:sp>
      <p:sp>
        <p:nvSpPr>
          <p:cNvPr id="4" name="Text 2"/>
          <p:cNvSpPr/>
          <p:nvPr/>
        </p:nvSpPr>
        <p:spPr>
          <a:xfrm>
            <a:off x="1469112" y="4428292"/>
            <a:ext cx="2816185" cy="351949"/>
          </a:xfrm>
          <a:prstGeom prst="rect">
            <a:avLst/>
          </a:prstGeom>
          <a:noFill/>
          <a:ln/>
        </p:spPr>
        <p:txBody>
          <a:bodyPr wrap="none" lIns="0" tIns="0" rIns="0" bIns="0" rtlCol="0" anchor="t"/>
          <a:lstStyle/>
          <a:p>
            <a:pPr marL="0" indent="0" algn="ctr">
              <a:lnSpc>
                <a:spcPts val="27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Entry Level</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5" name="Text 3"/>
          <p:cNvSpPr/>
          <p:nvPr/>
        </p:nvSpPr>
        <p:spPr>
          <a:xfrm>
            <a:off x="1037063" y="5057891"/>
            <a:ext cx="3879623" cy="1264850"/>
          </a:xfrm>
          <a:prstGeom prst="rect">
            <a:avLst/>
          </a:prstGeom>
          <a:noFill/>
          <a:ln/>
        </p:spPr>
        <p:txBody>
          <a:bodyPr wrap="square" lIns="0" tIns="0" rIns="0" bIns="0" rtlCol="0" anchor="t"/>
          <a:lstStyle/>
          <a:p>
            <a:pPr marL="0" indent="0" algn="ctr">
              <a:lnSpc>
                <a:spcPts val="30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Starting salaries for entry-level data science positions</a:t>
            </a:r>
            <a:r>
              <a:rPr lang="en-US" sz="2000" dirty="0">
                <a:solidFill>
                  <a:srgbClr val="F9EEE7"/>
                </a:solidFill>
                <a:latin typeface="Quattrocento" pitchFamily="34" charset="0"/>
                <a:ea typeface="Quattrocento" pitchFamily="34" charset="-122"/>
                <a:cs typeface="Quattrocento" pitchFamily="34" charset="-120"/>
              </a:rPr>
              <a:t>.</a:t>
            </a:r>
            <a:endParaRPr lang="en-US" sz="2000" dirty="0"/>
          </a:p>
        </p:txBody>
      </p:sp>
      <p:sp>
        <p:nvSpPr>
          <p:cNvPr id="6" name="Text 4"/>
          <p:cNvSpPr/>
          <p:nvPr/>
        </p:nvSpPr>
        <p:spPr>
          <a:xfrm>
            <a:off x="5275659" y="3432059"/>
            <a:ext cx="4078962" cy="789861"/>
          </a:xfrm>
          <a:prstGeom prst="rect">
            <a:avLst/>
          </a:prstGeom>
          <a:noFill/>
          <a:ln/>
        </p:spPr>
        <p:txBody>
          <a:bodyPr wrap="none" lIns="0" tIns="0" rIns="0" bIns="0" rtlCol="0" anchor="t"/>
          <a:lstStyle/>
          <a:p>
            <a:pPr marL="0" indent="0" algn="ctr">
              <a:lnSpc>
                <a:spcPts val="6200"/>
              </a:lnSpc>
              <a:buNone/>
            </a:pPr>
            <a:r>
              <a:rPr lang="en-US" sz="4800" dirty="0">
                <a:solidFill>
                  <a:srgbClr val="F9EEE7"/>
                </a:solidFill>
                <a:latin typeface="Quattrocento" pitchFamily="34" charset="0"/>
                <a:ea typeface="Quattrocento" pitchFamily="34" charset="-122"/>
                <a:cs typeface="Quattrocento" pitchFamily="34" charset="-120"/>
              </a:rPr>
              <a:t>$130K</a:t>
            </a:r>
            <a:endParaRPr lang="en-US" sz="4800" dirty="0"/>
          </a:p>
        </p:txBody>
      </p:sp>
      <p:sp>
        <p:nvSpPr>
          <p:cNvPr id="7" name="Text 5"/>
          <p:cNvSpPr/>
          <p:nvPr/>
        </p:nvSpPr>
        <p:spPr>
          <a:xfrm>
            <a:off x="5907048" y="4428292"/>
            <a:ext cx="2816185" cy="351949"/>
          </a:xfrm>
          <a:prstGeom prst="rect">
            <a:avLst/>
          </a:prstGeom>
          <a:noFill/>
          <a:ln/>
        </p:spPr>
        <p:txBody>
          <a:bodyPr wrap="none" lIns="0" tIns="0" rIns="0" bIns="0" rtlCol="0" anchor="t"/>
          <a:lstStyle/>
          <a:p>
            <a:pPr marL="0" indent="0" algn="ctr">
              <a:lnSpc>
                <a:spcPts val="27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Mid-Level</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8" name="Text 6"/>
          <p:cNvSpPr/>
          <p:nvPr/>
        </p:nvSpPr>
        <p:spPr>
          <a:xfrm>
            <a:off x="5575609" y="5057891"/>
            <a:ext cx="3779011" cy="766048"/>
          </a:xfrm>
          <a:prstGeom prst="rect">
            <a:avLst/>
          </a:prstGeom>
          <a:noFill/>
          <a:ln/>
        </p:spPr>
        <p:txBody>
          <a:bodyPr wrap="square" lIns="0" tIns="0" rIns="0" bIns="0" rtlCol="0" anchor="t"/>
          <a:lstStyle/>
          <a:p>
            <a:pPr marL="0" indent="0" algn="ctr">
              <a:lnSpc>
                <a:spcPts val="30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Salaries for data scientists with 3-5 years of experience.</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9" name="Text 7"/>
          <p:cNvSpPr/>
          <p:nvPr/>
        </p:nvSpPr>
        <p:spPr>
          <a:xfrm>
            <a:off x="9713534" y="3435438"/>
            <a:ext cx="4079081" cy="789861"/>
          </a:xfrm>
          <a:prstGeom prst="rect">
            <a:avLst/>
          </a:prstGeom>
          <a:noFill/>
          <a:ln/>
        </p:spPr>
        <p:txBody>
          <a:bodyPr wrap="none" lIns="0" tIns="0" rIns="0" bIns="0" rtlCol="0" anchor="t"/>
          <a:lstStyle/>
          <a:p>
            <a:pPr marL="0" indent="0" algn="ctr">
              <a:lnSpc>
                <a:spcPts val="6200"/>
              </a:lnSpc>
              <a:buNone/>
            </a:pPr>
            <a:r>
              <a:rPr lang="en-US" sz="4800" dirty="0">
                <a:solidFill>
                  <a:srgbClr val="F9EEE7"/>
                </a:solidFill>
                <a:latin typeface="Quattrocento" pitchFamily="34" charset="0"/>
                <a:ea typeface="Quattrocento" pitchFamily="34" charset="-122"/>
                <a:cs typeface="Quattrocento" pitchFamily="34" charset="-120"/>
              </a:rPr>
              <a:t>$180K</a:t>
            </a:r>
            <a:endParaRPr lang="en-US" sz="4800" dirty="0"/>
          </a:p>
        </p:txBody>
      </p:sp>
      <p:sp>
        <p:nvSpPr>
          <p:cNvPr id="10" name="Text 8"/>
          <p:cNvSpPr/>
          <p:nvPr/>
        </p:nvSpPr>
        <p:spPr>
          <a:xfrm>
            <a:off x="10344983" y="4428292"/>
            <a:ext cx="2816185" cy="351949"/>
          </a:xfrm>
          <a:prstGeom prst="rect">
            <a:avLst/>
          </a:prstGeom>
          <a:noFill/>
          <a:ln/>
        </p:spPr>
        <p:txBody>
          <a:bodyPr wrap="none" lIns="0" tIns="0" rIns="0" bIns="0" rtlCol="0" anchor="t"/>
          <a:lstStyle/>
          <a:p>
            <a:pPr marL="0" indent="0" algn="ctr">
              <a:lnSpc>
                <a:spcPts val="27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Senior Level</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1" name="Text 9"/>
          <p:cNvSpPr/>
          <p:nvPr/>
        </p:nvSpPr>
        <p:spPr>
          <a:xfrm>
            <a:off x="9713595" y="5052882"/>
            <a:ext cx="4079081" cy="1149072"/>
          </a:xfrm>
          <a:prstGeom prst="rect">
            <a:avLst/>
          </a:prstGeom>
          <a:noFill/>
          <a:ln/>
        </p:spPr>
        <p:txBody>
          <a:bodyPr wrap="square" lIns="0" tIns="0" rIns="0" bIns="0" rtlCol="0" anchor="t"/>
          <a:lstStyle/>
          <a:p>
            <a:pPr marL="0" indent="0" algn="ctr">
              <a:lnSpc>
                <a:spcPts val="30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Salaries for experienced data scientists.</a:t>
            </a: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12" name="Picture 11">
            <a:extLst>
              <a:ext uri="{FF2B5EF4-FFF2-40B4-BE49-F238E27FC236}">
                <a16:creationId xmlns:a16="http://schemas.microsoft.com/office/drawing/2014/main" id="{20B75F50-A4E9-D657-8C53-0DE96001D8D9}"/>
              </a:ext>
            </a:extLst>
          </p:cNvPr>
          <p:cNvPicPr>
            <a:picLocks noChangeAspect="1"/>
          </p:cNvPicPr>
          <p:nvPr/>
        </p:nvPicPr>
        <p:blipFill>
          <a:blip r:embed="rId3"/>
          <a:stretch>
            <a:fillRect/>
          </a:stretch>
        </p:blipFill>
        <p:spPr>
          <a:xfrm>
            <a:off x="12640760" y="7531779"/>
            <a:ext cx="1914310" cy="5974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100"/>
          </a:xfrm>
          <a:prstGeom prst="rect">
            <a:avLst/>
          </a:prstGeom>
        </p:spPr>
      </p:pic>
      <p:sp>
        <p:nvSpPr>
          <p:cNvPr id="3" name="Text 0"/>
          <p:cNvSpPr/>
          <p:nvPr/>
        </p:nvSpPr>
        <p:spPr>
          <a:xfrm>
            <a:off x="816650" y="641628"/>
            <a:ext cx="7510701" cy="686157"/>
          </a:xfrm>
          <a:prstGeom prst="rect">
            <a:avLst/>
          </a:prstGeom>
          <a:noFill/>
          <a:ln/>
        </p:spPr>
        <p:txBody>
          <a:bodyPr wrap="none" lIns="0" tIns="0" rIns="0" bIns="0" rtlCol="0" anchor="t"/>
          <a:lstStyle/>
          <a:p>
            <a:pPr marL="0" indent="0" algn="ctr">
              <a:lnSpc>
                <a:spcPts val="5400"/>
              </a:lnSpc>
              <a:buNone/>
            </a:pPr>
            <a:r>
              <a:rPr lang="en-US" sz="6000" b="1" dirty="0">
                <a:solidFill>
                  <a:srgbClr val="FFD9BE"/>
                </a:solidFill>
                <a:latin typeface="Roboto" panose="02000000000000000000" pitchFamily="2" charset="0"/>
                <a:ea typeface="Roboto" panose="02000000000000000000" pitchFamily="2" charset="0"/>
                <a:cs typeface="Roboto" panose="02000000000000000000" pitchFamily="2" charset="0"/>
              </a:rPr>
              <a:t>Features</a:t>
            </a:r>
            <a:endParaRPr lang="en-US" sz="6000" b="1" dirty="0">
              <a:latin typeface="Roboto" panose="02000000000000000000" pitchFamily="2" charset="0"/>
              <a:ea typeface="Roboto" panose="02000000000000000000" pitchFamily="2" charset="0"/>
              <a:cs typeface="Roboto" panose="02000000000000000000" pitchFamily="2" charset="0"/>
            </a:endParaRPr>
          </a:p>
        </p:txBody>
      </p:sp>
      <p:pic>
        <p:nvPicPr>
          <p:cNvPr id="4" name="Image 1" descr="preencoded.png"/>
          <p:cNvPicPr>
            <a:picLocks noChangeAspect="1"/>
          </p:cNvPicPr>
          <p:nvPr/>
        </p:nvPicPr>
        <p:blipFill>
          <a:blip r:embed="rId4"/>
          <a:stretch>
            <a:fillRect/>
          </a:stretch>
        </p:blipFill>
        <p:spPr>
          <a:xfrm>
            <a:off x="2145715" y="1622828"/>
            <a:ext cx="583287" cy="583287"/>
          </a:xfrm>
          <a:prstGeom prst="rect">
            <a:avLst/>
          </a:prstGeom>
        </p:spPr>
      </p:pic>
      <p:sp>
        <p:nvSpPr>
          <p:cNvPr id="5" name="Text 1"/>
          <p:cNvSpPr/>
          <p:nvPr/>
        </p:nvSpPr>
        <p:spPr>
          <a:xfrm>
            <a:off x="816649" y="2494240"/>
            <a:ext cx="3395841" cy="343138"/>
          </a:xfrm>
          <a:prstGeom prst="rect">
            <a:avLst/>
          </a:prstGeom>
          <a:noFill/>
          <a:ln/>
        </p:spPr>
        <p:txBody>
          <a:bodyPr wrap="none" lIns="0" tIns="0" rIns="0" bIns="0" rtlCol="0" anchor="t"/>
          <a:lstStyle/>
          <a:p>
            <a:pPr marL="0" indent="0" algn="ctr">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Skill-Based</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6" name="Text 2"/>
          <p:cNvSpPr/>
          <p:nvPr/>
        </p:nvSpPr>
        <p:spPr>
          <a:xfrm>
            <a:off x="755095" y="3125503"/>
            <a:ext cx="3487662" cy="1245404"/>
          </a:xfrm>
          <a:prstGeom prst="rect">
            <a:avLst/>
          </a:prstGeom>
          <a:noFill/>
          <a:ln/>
        </p:spPr>
        <p:txBody>
          <a:bodyPr wrap="square" lIns="0" tIns="0" rIns="0" bIns="0" rtlCol="0" anchor="t"/>
          <a:lstStyle/>
          <a:p>
            <a:pPr marL="0" indent="0" algn="ctr">
              <a:lnSpc>
                <a:spcPts val="2900"/>
              </a:lnSpc>
              <a:buNone/>
            </a:pPr>
            <a:r>
              <a:rPr lang="en-US" dirty="0">
                <a:solidFill>
                  <a:schemeClr val="bg1"/>
                </a:solidFill>
                <a:latin typeface="Roboto" panose="02000000000000000000" pitchFamily="2" charset="0"/>
                <a:ea typeface="Roboto" panose="02000000000000000000" pitchFamily="2" charset="0"/>
                <a:cs typeface="Roboto" panose="02000000000000000000" pitchFamily="2" charset="0"/>
              </a:rPr>
              <a:t>Salaries vary based on specialized skills, such as machine learning, cloud computing etc.</a:t>
            </a:r>
          </a:p>
        </p:txBody>
      </p:sp>
      <p:pic>
        <p:nvPicPr>
          <p:cNvPr id="7" name="Image 2" descr="preencoded.png"/>
          <p:cNvPicPr>
            <a:picLocks noChangeAspect="1"/>
          </p:cNvPicPr>
          <p:nvPr/>
        </p:nvPicPr>
        <p:blipFill>
          <a:blip r:embed="rId5"/>
          <a:stretch>
            <a:fillRect/>
          </a:stretch>
        </p:blipFill>
        <p:spPr>
          <a:xfrm>
            <a:off x="6703886" y="1666902"/>
            <a:ext cx="583287" cy="583287"/>
          </a:xfrm>
          <a:prstGeom prst="rect">
            <a:avLst/>
          </a:prstGeom>
        </p:spPr>
      </p:pic>
      <p:sp>
        <p:nvSpPr>
          <p:cNvPr id="8" name="Text 3"/>
          <p:cNvSpPr/>
          <p:nvPr/>
        </p:nvSpPr>
        <p:spPr>
          <a:xfrm>
            <a:off x="5581923" y="2552269"/>
            <a:ext cx="2744986" cy="343138"/>
          </a:xfrm>
          <a:prstGeom prst="rect">
            <a:avLst/>
          </a:prstGeom>
          <a:noFill/>
          <a:ln/>
        </p:spPr>
        <p:txBody>
          <a:bodyPr wrap="none" lIns="0" tIns="0" rIns="0" bIns="0" rtlCol="0" anchor="t"/>
          <a:lstStyle/>
          <a:p>
            <a:pPr marL="0" indent="0" algn="ctr">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High Demand</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9" name="Text 4"/>
          <p:cNvSpPr/>
          <p:nvPr/>
        </p:nvSpPr>
        <p:spPr>
          <a:xfrm>
            <a:off x="5363460" y="3125503"/>
            <a:ext cx="2987755" cy="1245404"/>
          </a:xfrm>
          <a:prstGeom prst="rect">
            <a:avLst/>
          </a:prstGeom>
          <a:noFill/>
          <a:ln/>
        </p:spPr>
        <p:txBody>
          <a:bodyPr wrap="square" lIns="0" tIns="0" rIns="0" bIns="0" rtlCol="0" anchor="t"/>
          <a:lstStyle/>
          <a:p>
            <a:pPr marL="0" indent="0" algn="ctr">
              <a:lnSpc>
                <a:spcPts val="290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Data science jobs are in high demand, leading to competitive salaries.</a:t>
            </a:r>
            <a:endParaRPr lang="en-US" sz="1800" dirty="0">
              <a:latin typeface="Roboto" panose="02000000000000000000" pitchFamily="2" charset="0"/>
              <a:ea typeface="Roboto" panose="02000000000000000000" pitchFamily="2" charset="0"/>
              <a:cs typeface="Roboto" panose="02000000000000000000" pitchFamily="2" charset="0"/>
            </a:endParaRPr>
          </a:p>
        </p:txBody>
      </p:sp>
      <p:pic>
        <p:nvPicPr>
          <p:cNvPr id="10" name="Image 3" descr="preencoded.png"/>
          <p:cNvPicPr>
            <a:picLocks noChangeAspect="1"/>
          </p:cNvPicPr>
          <p:nvPr/>
        </p:nvPicPr>
        <p:blipFill>
          <a:blip r:embed="rId6"/>
          <a:stretch>
            <a:fillRect/>
          </a:stretch>
        </p:blipFill>
        <p:spPr>
          <a:xfrm>
            <a:off x="2245889" y="5169533"/>
            <a:ext cx="583287" cy="583287"/>
          </a:xfrm>
          <a:prstGeom prst="rect">
            <a:avLst/>
          </a:prstGeom>
        </p:spPr>
      </p:pic>
      <p:sp>
        <p:nvSpPr>
          <p:cNvPr id="11" name="Text 5"/>
          <p:cNvSpPr/>
          <p:nvPr/>
        </p:nvSpPr>
        <p:spPr>
          <a:xfrm>
            <a:off x="816649" y="5987296"/>
            <a:ext cx="3580327" cy="343138"/>
          </a:xfrm>
          <a:prstGeom prst="rect">
            <a:avLst/>
          </a:prstGeom>
          <a:noFill/>
          <a:ln/>
        </p:spPr>
        <p:txBody>
          <a:bodyPr wrap="none" lIns="0" tIns="0" rIns="0" bIns="0" rtlCol="0" anchor="t"/>
          <a:lstStyle/>
          <a:p>
            <a:pPr marL="0" indent="0" algn="l">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Bonus and Benefits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2" name="Text 6"/>
          <p:cNvSpPr/>
          <p:nvPr/>
        </p:nvSpPr>
        <p:spPr>
          <a:xfrm>
            <a:off x="632163" y="6619021"/>
            <a:ext cx="3764813" cy="1245404"/>
          </a:xfrm>
          <a:prstGeom prst="rect">
            <a:avLst/>
          </a:prstGeom>
          <a:noFill/>
          <a:ln/>
        </p:spPr>
        <p:txBody>
          <a:bodyPr wrap="square" lIns="0" tIns="0" rIns="0" bIns="0" rtlCol="0" anchor="t"/>
          <a:lstStyle/>
          <a:p>
            <a:pPr marL="0" indent="0" algn="ctr">
              <a:lnSpc>
                <a:spcPts val="2900"/>
              </a:lnSpc>
              <a:buNone/>
            </a:pP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Many Data science jobs offer bonuses ,stock options, and benefits</a:t>
            </a:r>
            <a:r>
              <a:rPr lang="en-US" sz="1800" dirty="0">
                <a:solidFill>
                  <a:srgbClr val="F9EEE7"/>
                </a:solidFill>
                <a:latin typeface="Quattrocento" pitchFamily="34" charset="0"/>
                <a:ea typeface="Quattrocento" pitchFamily="34" charset="-122"/>
                <a:cs typeface="Quattrocento" pitchFamily="34" charset="-120"/>
              </a:rPr>
              <a:t>.</a:t>
            </a:r>
            <a:endParaRPr lang="en-US" sz="1800" dirty="0"/>
          </a:p>
        </p:txBody>
      </p:sp>
      <p:pic>
        <p:nvPicPr>
          <p:cNvPr id="13" name="Image 4" descr="preencoded.png"/>
          <p:cNvPicPr>
            <a:picLocks noChangeAspect="1"/>
          </p:cNvPicPr>
          <p:nvPr/>
        </p:nvPicPr>
        <p:blipFill>
          <a:blip r:embed="rId7"/>
          <a:stretch>
            <a:fillRect/>
          </a:stretch>
        </p:blipFill>
        <p:spPr>
          <a:xfrm>
            <a:off x="6541829" y="5066613"/>
            <a:ext cx="583287" cy="583287"/>
          </a:xfrm>
          <a:prstGeom prst="rect">
            <a:avLst/>
          </a:prstGeom>
        </p:spPr>
      </p:pic>
      <p:sp>
        <p:nvSpPr>
          <p:cNvPr id="14" name="Text 7"/>
          <p:cNvSpPr/>
          <p:nvPr/>
        </p:nvSpPr>
        <p:spPr>
          <a:xfrm>
            <a:off x="5169021" y="5987296"/>
            <a:ext cx="3291452" cy="343138"/>
          </a:xfrm>
          <a:prstGeom prst="rect">
            <a:avLst/>
          </a:prstGeom>
          <a:noFill/>
          <a:ln/>
        </p:spPr>
        <p:txBody>
          <a:bodyPr wrap="none" lIns="0" tIns="0" rIns="0" bIns="0" rtlCol="0" anchor="t"/>
          <a:lstStyle/>
          <a:p>
            <a:pPr marL="0" indent="0" algn="l">
              <a:lnSpc>
                <a:spcPts val="270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Data Visualization</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5" name="Text 8"/>
          <p:cNvSpPr/>
          <p:nvPr/>
        </p:nvSpPr>
        <p:spPr>
          <a:xfrm>
            <a:off x="5189761" y="6619021"/>
            <a:ext cx="3242292" cy="1120140"/>
          </a:xfrm>
          <a:prstGeom prst="rect">
            <a:avLst/>
          </a:prstGeom>
          <a:noFill/>
          <a:ln/>
        </p:spPr>
        <p:txBody>
          <a:bodyPr wrap="square" lIns="0" tIns="0" rIns="0" bIns="0" rtlCol="0" anchor="t"/>
          <a:lstStyle/>
          <a:p>
            <a:pPr marL="0" indent="0" algn="ctr">
              <a:lnSpc>
                <a:spcPts val="2900"/>
              </a:lnSpc>
              <a:buNone/>
            </a:pPr>
            <a:r>
              <a:rPr lang="en-US" sz="1800" dirty="0">
                <a:solidFill>
                  <a:srgbClr val="F9EEE7"/>
                </a:solidFill>
                <a:latin typeface="Roboto" panose="02000000000000000000" pitchFamily="2" charset="0"/>
                <a:ea typeface="Roboto" panose="02000000000000000000" pitchFamily="2" charset="0"/>
                <a:cs typeface="Roboto" panose="02000000000000000000" pitchFamily="2" charset="0"/>
              </a:rPr>
              <a:t> </a:t>
            </a:r>
            <a:r>
              <a:rPr lang="en-US" dirty="0">
                <a:solidFill>
                  <a:srgbClr val="F9EEE7"/>
                </a:solidFill>
                <a:latin typeface="Roboto" panose="02000000000000000000" pitchFamily="2" charset="0"/>
                <a:ea typeface="Roboto" panose="02000000000000000000" pitchFamily="2" charset="0"/>
                <a:cs typeface="Roboto" panose="02000000000000000000" pitchFamily="2" charset="0"/>
              </a:rPr>
              <a:t>D</a:t>
            </a:r>
            <a:r>
              <a:rPr lang="en-US" sz="1800" dirty="0">
                <a:solidFill>
                  <a:srgbClr val="F9EEE7"/>
                </a:solidFill>
                <a:latin typeface="Roboto" panose="02000000000000000000" pitchFamily="2" charset="0"/>
                <a:ea typeface="Roboto" panose="02000000000000000000" pitchFamily="2" charset="0"/>
                <a:cs typeface="Roboto" panose="02000000000000000000" pitchFamily="2" charset="0"/>
              </a:rPr>
              <a:t>ata visualizations using tools like Tableau or Power BI.</a:t>
            </a:r>
            <a:endParaRPr lang="en-US" sz="18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70108" y="853321"/>
            <a:ext cx="12683251" cy="704017"/>
          </a:xfrm>
          <a:prstGeom prst="rect">
            <a:avLst/>
          </a:prstGeom>
          <a:noFill/>
          <a:ln/>
        </p:spPr>
        <p:txBody>
          <a:bodyPr wrap="none" lIns="0" tIns="0" rIns="0" bIns="0" rtlCol="0" anchor="t"/>
          <a:lstStyle/>
          <a:p>
            <a:pPr marL="0" indent="0" algn="ctr">
              <a:lnSpc>
                <a:spcPts val="5500"/>
              </a:lnSpc>
              <a:buNone/>
            </a:pPr>
            <a:r>
              <a:rPr lang="en-US" sz="6000" b="1" dirty="0">
                <a:solidFill>
                  <a:srgbClr val="FFD9BE"/>
                </a:solidFill>
                <a:latin typeface="Roboto" panose="02000000000000000000" pitchFamily="2" charset="0"/>
                <a:ea typeface="Roboto" panose="02000000000000000000" pitchFamily="2" charset="0"/>
                <a:cs typeface="Roboto" panose="02000000000000000000" pitchFamily="2" charset="0"/>
              </a:rPr>
              <a:t>Findings</a:t>
            </a:r>
            <a:endParaRPr lang="en-US" sz="6000" b="1" dirty="0">
              <a:latin typeface="Roboto" panose="02000000000000000000" pitchFamily="2" charset="0"/>
              <a:ea typeface="Roboto" panose="02000000000000000000" pitchFamily="2" charset="0"/>
              <a:cs typeface="Roboto" panose="02000000000000000000" pitchFamily="2" charset="0"/>
            </a:endParaRPr>
          </a:p>
        </p:txBody>
      </p:sp>
      <p:pic>
        <p:nvPicPr>
          <p:cNvPr id="17" name="Picture 16">
            <a:extLst>
              <a:ext uri="{FF2B5EF4-FFF2-40B4-BE49-F238E27FC236}">
                <a16:creationId xmlns:a16="http://schemas.microsoft.com/office/drawing/2014/main" id="{A6723F99-EB7F-D424-3445-FA72D11A551D}"/>
              </a:ext>
            </a:extLst>
          </p:cNvPr>
          <p:cNvPicPr>
            <a:picLocks noChangeAspect="1"/>
          </p:cNvPicPr>
          <p:nvPr/>
        </p:nvPicPr>
        <p:blipFill>
          <a:blip r:embed="rId3"/>
          <a:stretch>
            <a:fillRect/>
          </a:stretch>
        </p:blipFill>
        <p:spPr>
          <a:xfrm>
            <a:off x="12596204" y="7602971"/>
            <a:ext cx="1914310" cy="597460"/>
          </a:xfrm>
          <a:prstGeom prst="rect">
            <a:avLst/>
          </a:prstGeom>
        </p:spPr>
      </p:pic>
      <p:sp>
        <p:nvSpPr>
          <p:cNvPr id="18" name="TextBox 17">
            <a:extLst>
              <a:ext uri="{FF2B5EF4-FFF2-40B4-BE49-F238E27FC236}">
                <a16:creationId xmlns:a16="http://schemas.microsoft.com/office/drawing/2014/main" id="{40801750-3FA6-3014-E2CC-19CE2EEFC097}"/>
              </a:ext>
            </a:extLst>
          </p:cNvPr>
          <p:cNvSpPr txBox="1"/>
          <p:nvPr/>
        </p:nvSpPr>
        <p:spPr>
          <a:xfrm>
            <a:off x="2018371" y="2066643"/>
            <a:ext cx="10577833" cy="4832092"/>
          </a:xfrm>
          <a:prstGeom prst="rect">
            <a:avLst/>
          </a:prstGeom>
          <a:noFill/>
        </p:spPr>
        <p:txBody>
          <a:bodyPr wrap="square" rtlCol="0">
            <a:spAutoFit/>
          </a:bodyPr>
          <a:lstStyle/>
          <a:p>
            <a:pPr marL="285750" indent="-285750" algn="just">
              <a:buFont typeface="Wingdings" panose="05000000000000000000" pitchFamily="2" charset="2"/>
              <a:buChar char="v"/>
            </a:pPr>
            <a:r>
              <a:rPr lang="en-IN" sz="2800" dirty="0">
                <a:solidFill>
                  <a:schemeClr val="bg1"/>
                </a:solidFill>
              </a:rPr>
              <a:t>Senior position have the highest average salary, followed by intermediate and then entry-level.</a:t>
            </a:r>
          </a:p>
          <a:p>
            <a:pPr algn="just"/>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The united States has the most data science employees, followed by Great Britain and India.</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The US has the highest average salary, followed by other countries like Germany, Canada, and France.</a:t>
            </a:r>
          </a:p>
          <a:p>
            <a:pPr marL="285750" indent="-285750" algn="just">
              <a:buFont typeface="Wingdings" panose="05000000000000000000" pitchFamily="2" charset="2"/>
              <a:buChar char="v"/>
            </a:pPr>
            <a:endParaRPr lang="en-IN" sz="2800" dirty="0">
              <a:solidFill>
                <a:schemeClr val="bg1"/>
              </a:solidFill>
            </a:endParaRPr>
          </a:p>
          <a:p>
            <a:pPr marL="285750" indent="-285750" algn="just">
              <a:buFont typeface="Wingdings" panose="05000000000000000000" pitchFamily="2" charset="2"/>
              <a:buChar char="v"/>
            </a:pPr>
            <a:r>
              <a:rPr lang="en-IN" sz="2800" dirty="0">
                <a:solidFill>
                  <a:schemeClr val="bg1"/>
                </a:solidFill>
              </a:rPr>
              <a:t>3D Computer Vision Researcher have the highest average salary, followed by AI Scientists and Analytics Engineers.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93525" y="734854"/>
            <a:ext cx="7377870" cy="678299"/>
          </a:xfrm>
          <a:prstGeom prst="rect">
            <a:avLst/>
          </a:prstGeom>
          <a:noFill/>
          <a:ln/>
        </p:spPr>
        <p:txBody>
          <a:bodyPr wrap="none" lIns="0" tIns="0" rIns="0" bIns="0" rtlCol="0" anchor="t"/>
          <a:lstStyle/>
          <a:p>
            <a:pPr marL="0" indent="0" algn="ctr">
              <a:lnSpc>
                <a:spcPts val="5300"/>
              </a:lnSpc>
              <a:buNone/>
            </a:pPr>
            <a:r>
              <a:rPr lang="en-US" sz="6000" b="1" dirty="0">
                <a:solidFill>
                  <a:srgbClr val="FFD9BE"/>
                </a:solidFill>
                <a:latin typeface="Roboto" panose="02000000000000000000" pitchFamily="2" charset="0"/>
                <a:ea typeface="Roboto" panose="02000000000000000000" pitchFamily="2" charset="0"/>
                <a:cs typeface="Roboto" panose="02000000000000000000" pitchFamily="2" charset="0"/>
              </a:rPr>
              <a:t>Suggestions</a:t>
            </a:r>
            <a:endParaRPr lang="en-US" sz="6000" b="1" dirty="0">
              <a:latin typeface="Roboto" panose="02000000000000000000" pitchFamily="2" charset="0"/>
              <a:ea typeface="Roboto" panose="02000000000000000000" pitchFamily="2" charset="0"/>
              <a:cs typeface="Roboto" panose="02000000000000000000" pitchFamily="2" charset="0"/>
            </a:endParaRPr>
          </a:p>
        </p:txBody>
      </p:sp>
      <p:pic>
        <p:nvPicPr>
          <p:cNvPr id="4" name="Image 1" descr="preencoded.png"/>
          <p:cNvPicPr>
            <a:picLocks noChangeAspect="1"/>
          </p:cNvPicPr>
          <p:nvPr/>
        </p:nvPicPr>
        <p:blipFill>
          <a:blip r:embed="rId4"/>
          <a:stretch>
            <a:fillRect/>
          </a:stretch>
        </p:blipFill>
        <p:spPr>
          <a:xfrm>
            <a:off x="6293525" y="1759029"/>
            <a:ext cx="1153120" cy="1844993"/>
          </a:xfrm>
          <a:prstGeom prst="rect">
            <a:avLst/>
          </a:prstGeom>
        </p:spPr>
      </p:pic>
      <p:sp>
        <p:nvSpPr>
          <p:cNvPr id="5" name="Text 1"/>
          <p:cNvSpPr/>
          <p:nvPr/>
        </p:nvSpPr>
        <p:spPr>
          <a:xfrm>
            <a:off x="7792522" y="1989653"/>
            <a:ext cx="2713196" cy="339090"/>
          </a:xfrm>
          <a:prstGeom prst="rect">
            <a:avLst/>
          </a:prstGeom>
          <a:noFill/>
          <a:ln/>
        </p:spPr>
        <p:txBody>
          <a:bodyPr wrap="none" lIns="0" tIns="0" rIns="0" bIns="0" rtlCol="0" anchor="t"/>
          <a:lstStyle/>
          <a:p>
            <a:pPr marL="0" indent="0" algn="l">
              <a:lnSpc>
                <a:spcPts val="26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Network</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6" name="Text 2"/>
          <p:cNvSpPr/>
          <p:nvPr/>
        </p:nvSpPr>
        <p:spPr>
          <a:xfrm>
            <a:off x="7792522" y="2467094"/>
            <a:ext cx="6030754" cy="1106924"/>
          </a:xfrm>
          <a:prstGeom prst="rect">
            <a:avLst/>
          </a:prstGeom>
          <a:noFill/>
          <a:ln/>
        </p:spPr>
        <p:txBody>
          <a:bodyPr wrap="square" lIns="0" tIns="0" rIns="0" bIns="0" rtlCol="0" anchor="t"/>
          <a:lstStyle/>
          <a:p>
            <a:pPr marL="0" indent="0" algn="just">
              <a:lnSpc>
                <a:spcPts val="29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Build relationships with professionals to learn about job opportunities and salary expectations.</a:t>
            </a: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7" name="Image 2" descr="preencoded.png"/>
          <p:cNvPicPr>
            <a:picLocks noChangeAspect="1"/>
          </p:cNvPicPr>
          <p:nvPr/>
        </p:nvPicPr>
        <p:blipFill>
          <a:blip r:embed="rId5"/>
          <a:stretch>
            <a:fillRect/>
          </a:stretch>
        </p:blipFill>
        <p:spPr>
          <a:xfrm>
            <a:off x="6293525" y="3604022"/>
            <a:ext cx="1153120" cy="2045613"/>
          </a:xfrm>
          <a:prstGeom prst="rect">
            <a:avLst/>
          </a:prstGeom>
        </p:spPr>
      </p:pic>
      <p:sp>
        <p:nvSpPr>
          <p:cNvPr id="8" name="Text 3"/>
          <p:cNvSpPr/>
          <p:nvPr/>
        </p:nvSpPr>
        <p:spPr>
          <a:xfrm>
            <a:off x="7792522" y="3834646"/>
            <a:ext cx="2713196" cy="339090"/>
          </a:xfrm>
          <a:prstGeom prst="rect">
            <a:avLst/>
          </a:prstGeom>
          <a:noFill/>
          <a:ln/>
        </p:spPr>
        <p:txBody>
          <a:bodyPr wrap="none" lIns="0" tIns="0" rIns="0" bIns="0" rtlCol="0" anchor="t"/>
          <a:lstStyle/>
          <a:p>
            <a:pPr marL="0" indent="0" algn="l">
              <a:lnSpc>
                <a:spcPts val="26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Develop Skills</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9" name="Text 4"/>
          <p:cNvSpPr/>
          <p:nvPr/>
        </p:nvSpPr>
        <p:spPr>
          <a:xfrm>
            <a:off x="7792522" y="4312087"/>
            <a:ext cx="6030754" cy="1106924"/>
          </a:xfrm>
          <a:prstGeom prst="rect">
            <a:avLst/>
          </a:prstGeom>
          <a:noFill/>
          <a:ln/>
        </p:spPr>
        <p:txBody>
          <a:bodyPr wrap="square" lIns="0" tIns="0" rIns="0" bIns="0" rtlCol="0" anchor="t"/>
          <a:lstStyle/>
          <a:p>
            <a:pPr marL="0" indent="0" algn="just">
              <a:lnSpc>
                <a:spcPts val="29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Continuously invest in your skills by taking courses, attending conferences.</a:t>
            </a:r>
            <a:endParaRPr lang="en-US" sz="2000" dirty="0">
              <a:latin typeface="Roboto" panose="02000000000000000000" pitchFamily="2" charset="0"/>
              <a:ea typeface="Roboto" panose="02000000000000000000" pitchFamily="2" charset="0"/>
              <a:cs typeface="Roboto" panose="02000000000000000000" pitchFamily="2" charset="0"/>
            </a:endParaRPr>
          </a:p>
        </p:txBody>
      </p:sp>
      <p:pic>
        <p:nvPicPr>
          <p:cNvPr id="10" name="Image 3" descr="preencoded.png"/>
          <p:cNvPicPr>
            <a:picLocks noChangeAspect="1"/>
          </p:cNvPicPr>
          <p:nvPr/>
        </p:nvPicPr>
        <p:blipFill>
          <a:blip r:embed="rId6"/>
          <a:stretch>
            <a:fillRect/>
          </a:stretch>
        </p:blipFill>
        <p:spPr>
          <a:xfrm>
            <a:off x="6293525" y="5649635"/>
            <a:ext cx="1153120" cy="1844993"/>
          </a:xfrm>
          <a:prstGeom prst="rect">
            <a:avLst/>
          </a:prstGeom>
        </p:spPr>
      </p:pic>
      <p:sp>
        <p:nvSpPr>
          <p:cNvPr id="11" name="Text 5"/>
          <p:cNvSpPr/>
          <p:nvPr/>
        </p:nvSpPr>
        <p:spPr>
          <a:xfrm>
            <a:off x="7792522" y="5880259"/>
            <a:ext cx="2713196" cy="339090"/>
          </a:xfrm>
          <a:prstGeom prst="rect">
            <a:avLst/>
          </a:prstGeom>
          <a:noFill/>
          <a:ln/>
        </p:spPr>
        <p:txBody>
          <a:bodyPr wrap="none" lIns="0" tIns="0" rIns="0" bIns="0" rtlCol="0" anchor="t"/>
          <a:lstStyle/>
          <a:p>
            <a:pPr marL="0" indent="0" algn="l">
              <a:lnSpc>
                <a:spcPts val="2650"/>
              </a:lnSpc>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Negotiate</a:t>
            </a:r>
            <a:endParaRPr lang="en-US" sz="3200" dirty="0">
              <a:latin typeface="Roboto" panose="02000000000000000000" pitchFamily="2" charset="0"/>
              <a:ea typeface="Roboto" panose="02000000000000000000" pitchFamily="2" charset="0"/>
              <a:cs typeface="Roboto" panose="02000000000000000000" pitchFamily="2" charset="0"/>
            </a:endParaRPr>
          </a:p>
        </p:txBody>
      </p:sp>
      <p:sp>
        <p:nvSpPr>
          <p:cNvPr id="12" name="Text 6"/>
          <p:cNvSpPr/>
          <p:nvPr/>
        </p:nvSpPr>
        <p:spPr>
          <a:xfrm>
            <a:off x="7792522" y="6357699"/>
            <a:ext cx="6030754" cy="1136929"/>
          </a:xfrm>
          <a:prstGeom prst="rect">
            <a:avLst/>
          </a:prstGeom>
          <a:noFill/>
          <a:ln/>
        </p:spPr>
        <p:txBody>
          <a:bodyPr wrap="square" lIns="0" tIns="0" rIns="0" bIns="0" rtlCol="0" anchor="t"/>
          <a:lstStyle/>
          <a:p>
            <a:pPr marL="0" indent="0" algn="just">
              <a:lnSpc>
                <a:spcPts val="2900"/>
              </a:lnSpc>
              <a:buNone/>
            </a:pPr>
            <a:r>
              <a:rPr lang="en-US" sz="2000" dirty="0">
                <a:solidFill>
                  <a:srgbClr val="F9EEE7"/>
                </a:solidFill>
                <a:latin typeface="Roboto" panose="02000000000000000000" pitchFamily="2" charset="0"/>
                <a:ea typeface="Roboto" panose="02000000000000000000" pitchFamily="2" charset="0"/>
                <a:cs typeface="Roboto" panose="02000000000000000000" pitchFamily="2" charset="0"/>
              </a:rPr>
              <a:t>Be prepared to negotiate your salary based on your experience, and skills for similar roles</a:t>
            </a:r>
            <a:r>
              <a:rPr lang="en-US" sz="1800" dirty="0">
                <a:solidFill>
                  <a:srgbClr val="F9EEE7"/>
                </a:solidFill>
                <a:latin typeface="Roboto" panose="02000000000000000000" pitchFamily="2" charset="0"/>
                <a:ea typeface="Roboto" panose="02000000000000000000" pitchFamily="2" charset="0"/>
                <a:cs typeface="Roboto" panose="02000000000000000000" pitchFamily="2" charset="0"/>
              </a:rPr>
              <a:t>.</a:t>
            </a:r>
            <a:endParaRPr lang="en-US" sz="1800" dirty="0">
              <a:latin typeface="Roboto" panose="02000000000000000000" pitchFamily="2" charset="0"/>
              <a:ea typeface="Roboto" panose="02000000000000000000" pitchFamily="2" charset="0"/>
              <a:cs typeface="Roboto" panose="02000000000000000000" pitchFamily="2" charset="0"/>
            </a:endParaRPr>
          </a:p>
        </p:txBody>
      </p:sp>
      <p:pic>
        <p:nvPicPr>
          <p:cNvPr id="13" name="Picture 12">
            <a:extLst>
              <a:ext uri="{FF2B5EF4-FFF2-40B4-BE49-F238E27FC236}">
                <a16:creationId xmlns:a16="http://schemas.microsoft.com/office/drawing/2014/main" id="{A30936F4-922A-1CD3-93A9-512665C95FF4}"/>
              </a:ext>
            </a:extLst>
          </p:cNvPr>
          <p:cNvPicPr>
            <a:picLocks noChangeAspect="1"/>
          </p:cNvPicPr>
          <p:nvPr/>
        </p:nvPicPr>
        <p:blipFill>
          <a:blip r:embed="rId7"/>
          <a:stretch>
            <a:fillRect/>
          </a:stretch>
        </p:blipFill>
        <p:spPr>
          <a:xfrm>
            <a:off x="12580095" y="7494628"/>
            <a:ext cx="1914310" cy="5974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981308"/>
            <a:ext cx="7468552" cy="836342"/>
          </a:xfrm>
          <a:prstGeom prst="rect">
            <a:avLst/>
          </a:prstGeom>
          <a:noFill/>
          <a:ln/>
        </p:spPr>
        <p:txBody>
          <a:bodyPr wrap="none" lIns="0" tIns="0" rIns="0" bIns="0" rtlCol="0" anchor="t"/>
          <a:lstStyle/>
          <a:p>
            <a:pPr marL="0" indent="0" algn="ctr">
              <a:lnSpc>
                <a:spcPts val="5500"/>
              </a:lnSpc>
              <a:buNone/>
            </a:pPr>
            <a:r>
              <a:rPr lang="en-US" sz="6000" b="1" dirty="0">
                <a:solidFill>
                  <a:srgbClr val="FFD9BE"/>
                </a:solidFill>
                <a:latin typeface="Roboto" panose="02000000000000000000" pitchFamily="2" charset="0"/>
                <a:ea typeface="Roboto" panose="02000000000000000000" pitchFamily="2" charset="0"/>
                <a:cs typeface="Roboto" panose="02000000000000000000" pitchFamily="2" charset="0"/>
              </a:rPr>
              <a:t>Conclusion</a:t>
            </a:r>
            <a:endParaRPr lang="en-US" sz="6000" b="1"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1003611" y="2408662"/>
            <a:ext cx="7192536" cy="4605455"/>
          </a:xfrm>
          <a:prstGeom prst="rect">
            <a:avLst/>
          </a:prstGeom>
          <a:noFill/>
          <a:ln/>
        </p:spPr>
        <p:txBody>
          <a:bodyPr wrap="square" lIns="0" tIns="0" rIns="0" bIns="0" rtlCol="0" anchor="t"/>
          <a:lstStyle/>
          <a:p>
            <a:pPr marL="0" indent="0" algn="just">
              <a:buNone/>
            </a:pPr>
            <a:r>
              <a:rPr lang="en-US" sz="3200" dirty="0">
                <a:solidFill>
                  <a:srgbClr val="F9EEE7"/>
                </a:solidFill>
                <a:latin typeface="Roboto" panose="02000000000000000000" pitchFamily="2" charset="0"/>
                <a:ea typeface="Roboto" panose="02000000000000000000" pitchFamily="2" charset="0"/>
                <a:cs typeface="Roboto" panose="02000000000000000000" pitchFamily="2" charset="0"/>
              </a:rPr>
              <a:t>Data science job salaries dashboard reveals that the United States offers the highest average salaries, with senior-level positions earning the most. Full-time employment is the most  data science jobs are concentrated in large companies. The top employee residence is the US, followed by Great Britain and India.</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435636" y="3774877"/>
            <a:ext cx="7068491" cy="704017"/>
          </a:xfrm>
          <a:prstGeom prst="rect">
            <a:avLst/>
          </a:prstGeom>
          <a:noFill/>
          <a:ln/>
        </p:spPr>
        <p:txBody>
          <a:bodyPr wrap="none" lIns="0" tIns="0" rIns="0" bIns="0" rtlCol="0" anchor="t"/>
          <a:lstStyle/>
          <a:p>
            <a:pPr marL="0" indent="0" algn="ctr">
              <a:lnSpc>
                <a:spcPts val="5500"/>
              </a:lnSpc>
              <a:buNone/>
            </a:pPr>
            <a:r>
              <a:rPr lang="en-US" sz="7200" b="1" dirty="0">
                <a:solidFill>
                  <a:srgbClr val="FFD9BE"/>
                </a:solidFill>
                <a:latin typeface="Roboto" panose="02000000000000000000" pitchFamily="2" charset="0"/>
                <a:ea typeface="Roboto" panose="02000000000000000000" pitchFamily="2" charset="0"/>
                <a:cs typeface="Roboto" panose="02000000000000000000" pitchFamily="2" charset="0"/>
              </a:rPr>
              <a:t>THANK YOU</a:t>
            </a:r>
            <a:endParaRPr lang="en-US" sz="7200" b="1" dirty="0">
              <a:latin typeface="Roboto" panose="02000000000000000000" pitchFamily="2" charset="0"/>
              <a:ea typeface="Roboto" panose="02000000000000000000" pitchFamily="2" charset="0"/>
              <a:cs typeface="Roboto" panose="02000000000000000000" pitchFamily="2" charset="0"/>
            </a:endParaRPr>
          </a:p>
        </p:txBody>
      </p:sp>
      <p:sp>
        <p:nvSpPr>
          <p:cNvPr id="4" name="Text 1"/>
          <p:cNvSpPr/>
          <p:nvPr/>
        </p:nvSpPr>
        <p:spPr>
          <a:xfrm>
            <a:off x="6324124" y="4454723"/>
            <a:ext cx="7468553" cy="383024"/>
          </a:xfrm>
          <a:prstGeom prst="rect">
            <a:avLst/>
          </a:prstGeom>
          <a:noFill/>
          <a:ln/>
        </p:spPr>
        <p:txBody>
          <a:bodyPr wrap="none" lIns="0" tIns="0" rIns="0" bIns="0" rtlCol="0" anchor="t"/>
          <a:lstStyle/>
          <a:p>
            <a:pPr marL="0" indent="0">
              <a:lnSpc>
                <a:spcPts val="3000"/>
              </a:lnSpc>
              <a:buNone/>
            </a:pPr>
            <a:endParaRPr lang="en-US" sz="1850" dirty="0"/>
          </a:p>
        </p:txBody>
      </p:sp>
      <p:pic>
        <p:nvPicPr>
          <p:cNvPr id="5" name="Picture 4">
            <a:extLst>
              <a:ext uri="{FF2B5EF4-FFF2-40B4-BE49-F238E27FC236}">
                <a16:creationId xmlns:a16="http://schemas.microsoft.com/office/drawing/2014/main" id="{4C5CF0F4-B6E6-4DF9-B91F-D03D4CBC72A9}"/>
              </a:ext>
            </a:extLst>
          </p:cNvPr>
          <p:cNvPicPr>
            <a:picLocks noChangeAspect="1"/>
          </p:cNvPicPr>
          <p:nvPr/>
        </p:nvPicPr>
        <p:blipFill>
          <a:blip r:embed="rId4"/>
          <a:stretch>
            <a:fillRect/>
          </a:stretch>
        </p:blipFill>
        <p:spPr>
          <a:xfrm>
            <a:off x="12716090" y="7529426"/>
            <a:ext cx="1914310" cy="5974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414</Words>
  <Application>Microsoft Office PowerPoint</Application>
  <PresentationFormat>Custom</PresentationFormat>
  <Paragraphs>66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Quattrocento</vt:lpstr>
      <vt:lpstr>Arial</vt:lpstr>
      <vt:lpstr>Book Antiqua</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RIJU SARANG</cp:lastModifiedBy>
  <cp:revision>10</cp:revision>
  <dcterms:created xsi:type="dcterms:W3CDTF">2025-01-09T04:55:36Z</dcterms:created>
  <dcterms:modified xsi:type="dcterms:W3CDTF">2025-01-25T05:22:38Z</dcterms:modified>
</cp:coreProperties>
</file>