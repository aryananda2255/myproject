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9" r:id="rId4"/>
    <p:sldId id="260" r:id="rId5"/>
    <p:sldId id="262" r:id="rId6"/>
    <p:sldId id="263" r:id="rId7"/>
    <p:sldId id="264" r:id="rId8"/>
    <p:sldId id="266" r:id="rId9"/>
  </p:sldIdLst>
  <p:sldSz cx="14630400" cy="8229600"/>
  <p:notesSz cx="8229600" cy="14630400"/>
  <p:embeddedFontLst>
    <p:embeddedFont>
      <p:font typeface="Roboto" panose="02000000000000000000" pitchFamily="2" charset="0"/>
      <p:regular r:id="rId11"/>
    </p:embeddedFont>
    <p:embeddedFont>
      <p:font typeface="Roboto Medium" panose="020000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3349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215997"/>
            <a:ext cx="7556421"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4" name="Text 1"/>
          <p:cNvSpPr/>
          <p:nvPr/>
        </p:nvSpPr>
        <p:spPr>
          <a:xfrm>
            <a:off x="5742878" y="3691054"/>
            <a:ext cx="8753707" cy="823439"/>
          </a:xfrm>
          <a:prstGeom prst="rect">
            <a:avLst/>
          </a:prstGeom>
          <a:noFill/>
          <a:ln/>
        </p:spPr>
        <p:txBody>
          <a:bodyPr wrap="none" lIns="0" tIns="0" rIns="0" bIns="0" rtlCol="0" anchor="t"/>
          <a:lstStyle/>
          <a:p>
            <a:pPr marL="0" indent="0">
              <a:lnSpc>
                <a:spcPts val="5550"/>
              </a:lnSpc>
              <a:buNone/>
            </a:pPr>
            <a:r>
              <a:rPr lang="en-US" sz="7200" dirty="0">
                <a:solidFill>
                  <a:srgbClr val="FFFFFF"/>
                </a:solidFill>
                <a:latin typeface="Roboto Medium" pitchFamily="34" charset="0"/>
                <a:ea typeface="Roboto Medium" pitchFamily="34" charset="-122"/>
                <a:cs typeface="Roboto Medium" pitchFamily="34" charset="-120"/>
              </a:rPr>
              <a:t>Amazon Prime Video</a:t>
            </a:r>
            <a:endParaRPr lang="en-US" sz="7200" dirty="0"/>
          </a:p>
        </p:txBody>
      </p:sp>
      <p:sp>
        <p:nvSpPr>
          <p:cNvPr id="5" name="Text 2"/>
          <p:cNvSpPr/>
          <p:nvPr/>
        </p:nvSpPr>
        <p:spPr>
          <a:xfrm>
            <a:off x="8120141" y="4880830"/>
            <a:ext cx="2529274" cy="362903"/>
          </a:xfrm>
          <a:prstGeom prst="rect">
            <a:avLst/>
          </a:prstGeom>
          <a:noFill/>
          <a:ln/>
        </p:spPr>
        <p:txBody>
          <a:bodyPr wrap="none" lIns="0" tIns="0" rIns="0" bIns="0" rtlCol="0" anchor="t"/>
          <a:lstStyle/>
          <a:p>
            <a:pPr marL="0" indent="0" algn="ctr">
              <a:lnSpc>
                <a:spcPts val="2850"/>
              </a:lnSpc>
              <a:buNone/>
            </a:pPr>
            <a:r>
              <a:rPr lang="en-US" sz="2400" dirty="0">
                <a:solidFill>
                  <a:schemeClr val="bg1"/>
                </a:solidFill>
              </a:rPr>
              <a:t>Presented by ARYANANDA VP</a:t>
            </a:r>
          </a:p>
        </p:txBody>
      </p:sp>
      <p:pic>
        <p:nvPicPr>
          <p:cNvPr id="6" name="Picture 5">
            <a:extLst>
              <a:ext uri="{FF2B5EF4-FFF2-40B4-BE49-F238E27FC236}">
                <a16:creationId xmlns:a16="http://schemas.microsoft.com/office/drawing/2014/main" id="{6D424755-577D-0E05-5413-B821C909984C}"/>
              </a:ext>
            </a:extLst>
          </p:cNvPr>
          <p:cNvPicPr>
            <a:picLocks noChangeAspect="1"/>
          </p:cNvPicPr>
          <p:nvPr/>
        </p:nvPicPr>
        <p:blipFill>
          <a:blip r:embed="rId4"/>
          <a:stretch>
            <a:fillRect/>
          </a:stretch>
        </p:blipFill>
        <p:spPr>
          <a:xfrm>
            <a:off x="12624642" y="7260252"/>
            <a:ext cx="2005758" cy="9693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89" y="1193180"/>
            <a:ext cx="12420405" cy="825108"/>
          </a:xfrm>
          <a:prstGeom prst="rect">
            <a:avLst/>
          </a:prstGeom>
          <a:noFill/>
          <a:ln/>
        </p:spPr>
        <p:txBody>
          <a:bodyPr wrap="none" lIns="0" tIns="0" rIns="0" bIns="0" rtlCol="0" anchor="t"/>
          <a:lstStyle/>
          <a:p>
            <a:pPr marL="0" indent="0" algn="ctr">
              <a:lnSpc>
                <a:spcPts val="5550"/>
              </a:lnSpc>
              <a:buNone/>
            </a:pPr>
            <a:r>
              <a:rPr lang="en-US" sz="7200" dirty="0">
                <a:solidFill>
                  <a:srgbClr val="FFFFFF"/>
                </a:solidFill>
                <a:latin typeface="Roboto Medium" pitchFamily="34" charset="0"/>
                <a:ea typeface="Roboto Medium" pitchFamily="34" charset="-122"/>
                <a:cs typeface="Roboto Medium" pitchFamily="34" charset="-120"/>
              </a:rPr>
              <a:t>Introduction</a:t>
            </a:r>
            <a:endParaRPr lang="en-US" sz="7200" dirty="0"/>
          </a:p>
        </p:txBody>
      </p:sp>
      <p:sp>
        <p:nvSpPr>
          <p:cNvPr id="3" name="Text 1"/>
          <p:cNvSpPr/>
          <p:nvPr/>
        </p:nvSpPr>
        <p:spPr>
          <a:xfrm>
            <a:off x="1561171" y="3066585"/>
            <a:ext cx="10973531" cy="3479181"/>
          </a:xfrm>
          <a:prstGeom prst="rect">
            <a:avLst/>
          </a:prstGeom>
          <a:noFill/>
          <a:ln/>
        </p:spPr>
        <p:txBody>
          <a:bodyPr wrap="square" lIns="0" tIns="0" rIns="0" bIns="0" rtlCol="0" anchor="t"/>
          <a:lstStyle/>
          <a:p>
            <a:pPr marL="0" indent="0" algn="just">
              <a:buNone/>
            </a:pPr>
            <a:r>
              <a:rPr lang="en-US" sz="32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Amazon Prime Video is a streaming service offered by Amazon that provides access to a vast library of movies ,TV shows, and original content . It has a huge collection of title to choose from, including exclusive shows and movies. You can watch on different devices, anywhere and anytime, without ads. It’s a great way to enjoy your favourite shows and movies, and discover new ones.</a:t>
            </a:r>
            <a:endParaRPr lang="en-US" sz="3200" dirty="0">
              <a:latin typeface="Roboto Medium" panose="02000000000000000000" pitchFamily="2" charset="0"/>
              <a:ea typeface="Roboto Medium" panose="02000000000000000000" pitchFamily="2" charset="0"/>
              <a:cs typeface="Roboto Medium" panose="02000000000000000000" pitchFamily="2" charset="0"/>
            </a:endParaRPr>
          </a:p>
        </p:txBody>
      </p:sp>
      <p:pic>
        <p:nvPicPr>
          <p:cNvPr id="4" name="Picture 3">
            <a:extLst>
              <a:ext uri="{FF2B5EF4-FFF2-40B4-BE49-F238E27FC236}">
                <a16:creationId xmlns:a16="http://schemas.microsoft.com/office/drawing/2014/main" id="{4ADC8451-533D-7DA8-0FDE-0FA50AC917F1}"/>
              </a:ext>
            </a:extLst>
          </p:cNvPr>
          <p:cNvPicPr>
            <a:picLocks noChangeAspect="1"/>
          </p:cNvPicPr>
          <p:nvPr/>
        </p:nvPicPr>
        <p:blipFill>
          <a:blip r:embed="rId3"/>
          <a:stretch>
            <a:fillRect/>
          </a:stretch>
        </p:blipFill>
        <p:spPr>
          <a:xfrm>
            <a:off x="12534702" y="7260252"/>
            <a:ext cx="2005758" cy="9693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89" y="925552"/>
            <a:ext cx="13042941" cy="1393548"/>
          </a:xfrm>
          <a:prstGeom prst="rect">
            <a:avLst/>
          </a:prstGeom>
          <a:noFill/>
          <a:ln/>
        </p:spPr>
        <p:txBody>
          <a:bodyPr wrap="none" lIns="0" tIns="0" rIns="0" bIns="0" rtlCol="0" anchor="t"/>
          <a:lstStyle/>
          <a:p>
            <a:pPr marL="0" indent="0" algn="ctr">
              <a:lnSpc>
                <a:spcPts val="5550"/>
              </a:lnSpc>
              <a:buNone/>
            </a:pPr>
            <a:r>
              <a:rPr lang="en-US" sz="4450" dirty="0">
                <a:solidFill>
                  <a:srgbClr val="FFFFFF"/>
                </a:solidFill>
                <a:latin typeface="Roboto Medium" pitchFamily="34" charset="0"/>
                <a:ea typeface="Roboto Medium" pitchFamily="34" charset="-122"/>
                <a:cs typeface="Roboto Medium" pitchFamily="34" charset="-120"/>
              </a:rPr>
              <a:t> </a:t>
            </a:r>
            <a:r>
              <a:rPr lang="en-US" sz="7200" dirty="0">
                <a:solidFill>
                  <a:srgbClr val="FFFFFF"/>
                </a:solidFill>
                <a:latin typeface="Roboto Medium" panose="02000000000000000000" pitchFamily="2" charset="0"/>
                <a:ea typeface="Roboto Medium" panose="02000000000000000000" pitchFamily="2" charset="0"/>
                <a:cs typeface="Roboto Medium" panose="02000000000000000000" pitchFamily="2" charset="0"/>
              </a:rPr>
              <a:t>Features</a:t>
            </a:r>
            <a:endParaRPr lang="en-US" sz="7200"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3" name="Shape 1"/>
          <p:cNvSpPr/>
          <p:nvPr/>
        </p:nvSpPr>
        <p:spPr>
          <a:xfrm>
            <a:off x="793790" y="2659260"/>
            <a:ext cx="6408063" cy="1801227"/>
          </a:xfrm>
          <a:prstGeom prst="roundRect">
            <a:avLst>
              <a:gd name="adj" fmla="val 5654"/>
            </a:avLst>
          </a:prstGeom>
          <a:solidFill>
            <a:srgbClr val="182567"/>
          </a:solidFill>
          <a:ln w="7620">
            <a:solidFill>
              <a:srgbClr val="313E80"/>
            </a:solidFill>
            <a:prstDash val="solid"/>
          </a:ln>
        </p:spPr>
      </p:sp>
      <p:sp>
        <p:nvSpPr>
          <p:cNvPr id="4" name="Text 2"/>
          <p:cNvSpPr/>
          <p:nvPr/>
        </p:nvSpPr>
        <p:spPr>
          <a:xfrm>
            <a:off x="1028224" y="2913638"/>
            <a:ext cx="4224000" cy="334387"/>
          </a:xfrm>
          <a:prstGeom prst="rect">
            <a:avLst/>
          </a:prstGeom>
          <a:noFill/>
          <a:ln/>
        </p:spPr>
        <p:txBody>
          <a:bodyPr wrap="none" lIns="0" tIns="0" rIns="0" bIns="0" rtlCol="0" anchor="t"/>
          <a:lstStyle/>
          <a:p>
            <a:pPr marL="0" indent="0">
              <a:lnSpc>
                <a:spcPts val="2750"/>
              </a:lnSpc>
              <a:buNone/>
            </a:pPr>
            <a:r>
              <a:rPr lang="en-US" sz="3200" b="1"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Original Content</a:t>
            </a:r>
            <a:endParaRPr lang="en-US" sz="3200" b="1"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5" name="Text 3"/>
          <p:cNvSpPr/>
          <p:nvPr/>
        </p:nvSpPr>
        <p:spPr>
          <a:xfrm>
            <a:off x="1028224" y="3384113"/>
            <a:ext cx="5939195" cy="725805"/>
          </a:xfrm>
          <a:prstGeom prst="rect">
            <a:avLst/>
          </a:prstGeom>
          <a:noFill/>
          <a:ln/>
        </p:spPr>
        <p:txBody>
          <a:bodyPr wrap="square" lIns="0" tIns="0" rIns="0" bIns="0" rtlCol="0" anchor="t"/>
          <a:lstStyle/>
          <a:p>
            <a:pPr marL="0" indent="0">
              <a:lnSpc>
                <a:spcPts val="2850"/>
              </a:lnSpc>
              <a:buNone/>
            </a:pPr>
            <a:r>
              <a:rPr lang="en-US" sz="24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Exclusive Amazon Original Series and Movies.</a:t>
            </a:r>
          </a:p>
        </p:txBody>
      </p:sp>
      <p:sp>
        <p:nvSpPr>
          <p:cNvPr id="6" name="Shape 4"/>
          <p:cNvSpPr/>
          <p:nvPr/>
        </p:nvSpPr>
        <p:spPr>
          <a:xfrm>
            <a:off x="7428667" y="2659261"/>
            <a:ext cx="6408063" cy="1801226"/>
          </a:xfrm>
          <a:prstGeom prst="roundRect">
            <a:avLst>
              <a:gd name="adj" fmla="val 5654"/>
            </a:avLst>
          </a:prstGeom>
          <a:solidFill>
            <a:srgbClr val="182567"/>
          </a:solidFill>
          <a:ln w="7620">
            <a:solidFill>
              <a:srgbClr val="313E80"/>
            </a:solidFill>
            <a:prstDash val="solid"/>
          </a:ln>
        </p:spPr>
      </p:sp>
      <p:sp>
        <p:nvSpPr>
          <p:cNvPr id="7" name="Text 5"/>
          <p:cNvSpPr/>
          <p:nvPr/>
        </p:nvSpPr>
        <p:spPr>
          <a:xfrm>
            <a:off x="7663101" y="2893695"/>
            <a:ext cx="4103489" cy="354330"/>
          </a:xfrm>
          <a:prstGeom prst="rect">
            <a:avLst/>
          </a:prstGeom>
          <a:noFill/>
          <a:ln/>
        </p:spPr>
        <p:txBody>
          <a:bodyPr wrap="none" lIns="0" tIns="0" rIns="0" bIns="0" rtlCol="0" anchor="t"/>
          <a:lstStyle/>
          <a:p>
            <a:pPr marL="0" indent="0">
              <a:lnSpc>
                <a:spcPts val="2750"/>
              </a:lnSpc>
              <a:buNone/>
            </a:pPr>
            <a:r>
              <a:rPr lang="en-US" sz="3200" b="1"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Watchlist</a:t>
            </a:r>
            <a:endParaRPr lang="en-US" sz="3200" b="1"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8" name="Text 6"/>
          <p:cNvSpPr/>
          <p:nvPr/>
        </p:nvSpPr>
        <p:spPr>
          <a:xfrm>
            <a:off x="7663101" y="3384113"/>
            <a:ext cx="5939195" cy="725805"/>
          </a:xfrm>
          <a:prstGeom prst="rect">
            <a:avLst/>
          </a:prstGeom>
          <a:noFill/>
          <a:ln/>
        </p:spPr>
        <p:txBody>
          <a:bodyPr wrap="square" lIns="0" tIns="0" rIns="0" bIns="0" rtlCol="0" anchor="t"/>
          <a:lstStyle/>
          <a:p>
            <a:pPr marL="0" indent="0">
              <a:lnSpc>
                <a:spcPts val="2850"/>
              </a:lnSpc>
              <a:buNone/>
            </a:pPr>
            <a:r>
              <a:rPr lang="en-US" sz="24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Create a list of movies and TV shows you want to watch.</a:t>
            </a:r>
            <a:endParaRPr lang="en-US" sz="2400"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Shape 7"/>
          <p:cNvSpPr/>
          <p:nvPr/>
        </p:nvSpPr>
        <p:spPr>
          <a:xfrm>
            <a:off x="793790" y="4684513"/>
            <a:ext cx="6408063" cy="2140033"/>
          </a:xfrm>
          <a:prstGeom prst="roundRect">
            <a:avLst>
              <a:gd name="adj" fmla="val 4652"/>
            </a:avLst>
          </a:prstGeom>
          <a:solidFill>
            <a:srgbClr val="182567"/>
          </a:solidFill>
          <a:ln w="7620">
            <a:solidFill>
              <a:srgbClr val="313E80"/>
            </a:solidFill>
            <a:prstDash val="solid"/>
          </a:ln>
        </p:spPr>
      </p:sp>
      <p:sp>
        <p:nvSpPr>
          <p:cNvPr id="10" name="Text 8"/>
          <p:cNvSpPr/>
          <p:nvPr/>
        </p:nvSpPr>
        <p:spPr>
          <a:xfrm>
            <a:off x="1028224" y="4805601"/>
            <a:ext cx="2835235" cy="354330"/>
          </a:xfrm>
          <a:prstGeom prst="rect">
            <a:avLst/>
          </a:prstGeom>
          <a:noFill/>
          <a:ln/>
        </p:spPr>
        <p:txBody>
          <a:bodyPr wrap="none" lIns="0" tIns="0" rIns="0" bIns="0" rtlCol="0" anchor="t"/>
          <a:lstStyle/>
          <a:p>
            <a:pPr marL="0" indent="0">
              <a:lnSpc>
                <a:spcPts val="2750"/>
              </a:lnSpc>
              <a:buNone/>
            </a:pPr>
            <a:r>
              <a:rPr lang="en-US" sz="3200" b="1"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Offline Downloads</a:t>
            </a:r>
            <a:endParaRPr lang="en-US" sz="3200" b="1"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11" name="Text 9"/>
          <p:cNvSpPr/>
          <p:nvPr/>
        </p:nvSpPr>
        <p:spPr>
          <a:xfrm>
            <a:off x="1028224" y="5296019"/>
            <a:ext cx="5939195" cy="1088708"/>
          </a:xfrm>
          <a:prstGeom prst="rect">
            <a:avLst/>
          </a:prstGeom>
          <a:noFill/>
          <a:ln/>
        </p:spPr>
        <p:txBody>
          <a:bodyPr wrap="square" lIns="0" tIns="0" rIns="0" bIns="0" rtlCol="0" anchor="t"/>
          <a:lstStyle/>
          <a:p>
            <a:pPr marL="0" indent="0">
              <a:lnSpc>
                <a:spcPts val="2850"/>
              </a:lnSpc>
              <a:buNone/>
            </a:pPr>
            <a:r>
              <a:rPr lang="en-US" sz="24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Allows users to download content for viewing without internet access.</a:t>
            </a:r>
            <a:endParaRPr lang="en-US" sz="2400"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12" name="Shape 10"/>
          <p:cNvSpPr/>
          <p:nvPr/>
        </p:nvSpPr>
        <p:spPr>
          <a:xfrm>
            <a:off x="7428667" y="4684513"/>
            <a:ext cx="6408063" cy="2140032"/>
          </a:xfrm>
          <a:prstGeom prst="roundRect">
            <a:avLst>
              <a:gd name="adj" fmla="val 4652"/>
            </a:avLst>
          </a:prstGeom>
          <a:solidFill>
            <a:srgbClr val="182567"/>
          </a:solidFill>
          <a:ln w="7620">
            <a:solidFill>
              <a:srgbClr val="313E80"/>
            </a:solidFill>
            <a:prstDash val="solid"/>
          </a:ln>
        </p:spPr>
      </p:sp>
      <p:sp>
        <p:nvSpPr>
          <p:cNvPr id="13" name="Text 11"/>
          <p:cNvSpPr/>
          <p:nvPr/>
        </p:nvSpPr>
        <p:spPr>
          <a:xfrm>
            <a:off x="7663101" y="4805601"/>
            <a:ext cx="3599631" cy="354330"/>
          </a:xfrm>
          <a:prstGeom prst="rect">
            <a:avLst/>
          </a:prstGeom>
          <a:noFill/>
          <a:ln/>
        </p:spPr>
        <p:txBody>
          <a:bodyPr wrap="none" lIns="0" tIns="0" rIns="0" bIns="0" rtlCol="0" anchor="t"/>
          <a:lstStyle/>
          <a:p>
            <a:pPr marL="0" indent="0">
              <a:lnSpc>
                <a:spcPts val="2750"/>
              </a:lnSpc>
              <a:buNone/>
            </a:pPr>
            <a:r>
              <a:rPr lang="en-US" sz="3200" b="1"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Huge content viewing</a:t>
            </a:r>
            <a:endParaRPr lang="en-US" sz="3200" b="1"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14" name="Text 12"/>
          <p:cNvSpPr/>
          <p:nvPr/>
        </p:nvSpPr>
        <p:spPr>
          <a:xfrm>
            <a:off x="7663101" y="5296019"/>
            <a:ext cx="5939195" cy="725805"/>
          </a:xfrm>
          <a:prstGeom prst="rect">
            <a:avLst/>
          </a:prstGeom>
          <a:noFill/>
          <a:ln/>
        </p:spPr>
        <p:txBody>
          <a:bodyPr wrap="square" lIns="0" tIns="0" rIns="0" bIns="0" rtlCol="0" anchor="t"/>
          <a:lstStyle/>
          <a:p>
            <a:pPr marL="0" indent="0">
              <a:lnSpc>
                <a:spcPts val="2850"/>
              </a:lnSpc>
              <a:buNone/>
            </a:pPr>
            <a:r>
              <a:rPr lang="en-US" sz="24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Thousand of movies, TV shows and documentaries</a:t>
            </a:r>
            <a:r>
              <a:rPr lang="en-US" sz="20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a:t>
            </a:r>
            <a:endParaRPr lang="en-US" sz="2000" dirty="0">
              <a:latin typeface="Roboto Medium" panose="02000000000000000000" pitchFamily="2" charset="0"/>
              <a:ea typeface="Roboto Medium" panose="02000000000000000000" pitchFamily="2" charset="0"/>
              <a:cs typeface="Roboto Medium" panose="02000000000000000000" pitchFamily="2" charset="0"/>
            </a:endParaRPr>
          </a:p>
        </p:txBody>
      </p:sp>
      <p:pic>
        <p:nvPicPr>
          <p:cNvPr id="15" name="Picture 14">
            <a:extLst>
              <a:ext uri="{FF2B5EF4-FFF2-40B4-BE49-F238E27FC236}">
                <a16:creationId xmlns:a16="http://schemas.microsoft.com/office/drawing/2014/main" id="{47A49BAC-8089-750B-2958-B6FF8FDFB958}"/>
              </a:ext>
            </a:extLst>
          </p:cNvPr>
          <p:cNvPicPr>
            <a:picLocks noChangeAspect="1"/>
          </p:cNvPicPr>
          <p:nvPr/>
        </p:nvPicPr>
        <p:blipFill>
          <a:blip r:embed="rId3"/>
          <a:stretch>
            <a:fillRect/>
          </a:stretch>
        </p:blipFill>
        <p:spPr>
          <a:xfrm>
            <a:off x="12599417" y="7134048"/>
            <a:ext cx="2005758" cy="9693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93790" y="1237785"/>
            <a:ext cx="13089478" cy="2175499"/>
          </a:xfrm>
          <a:prstGeom prst="rect">
            <a:avLst/>
          </a:prstGeom>
          <a:noFill/>
          <a:ln/>
        </p:spPr>
        <p:txBody>
          <a:bodyPr wrap="square" lIns="0" tIns="0" rIns="0" bIns="0" rtlCol="0" anchor="t"/>
          <a:lstStyle/>
          <a:p>
            <a:pPr algn="ctr"/>
            <a:r>
              <a:rPr lang="en-US" sz="6000" dirty="0">
                <a:solidFill>
                  <a:srgbClr val="FFFFFF"/>
                </a:solidFill>
                <a:latin typeface="Roboto Medium" panose="02000000000000000000" pitchFamily="2" charset="0"/>
                <a:ea typeface="Roboto Medium" panose="02000000000000000000" pitchFamily="2" charset="0"/>
                <a:cs typeface="Roboto Medium" panose="02000000000000000000" pitchFamily="2" charset="0"/>
              </a:rPr>
              <a:t>Prime Video's Impact on the           Streaming Industry</a:t>
            </a:r>
            <a:endParaRPr lang="en-US" sz="6000" dirty="0">
              <a:latin typeface="Roboto Medium" panose="02000000000000000000" pitchFamily="2" charset="0"/>
              <a:ea typeface="Roboto Medium" panose="02000000000000000000" pitchFamily="2" charset="0"/>
              <a:cs typeface="Roboto Medium" panose="02000000000000000000" pitchFamily="2" charset="0"/>
            </a:endParaRPr>
          </a:p>
          <a:p>
            <a:pPr marL="0" indent="0">
              <a:lnSpc>
                <a:spcPts val="5550"/>
              </a:lnSpc>
              <a:buNone/>
            </a:pPr>
            <a:endParaRPr lang="en-US" sz="4450" dirty="0"/>
          </a:p>
        </p:txBody>
      </p:sp>
      <p:sp>
        <p:nvSpPr>
          <p:cNvPr id="4" name="Text 1"/>
          <p:cNvSpPr/>
          <p:nvPr/>
        </p:nvSpPr>
        <p:spPr>
          <a:xfrm>
            <a:off x="3468031" y="4041760"/>
            <a:ext cx="3445728" cy="701518"/>
          </a:xfrm>
          <a:prstGeom prst="rect">
            <a:avLst/>
          </a:prstGeom>
          <a:noFill/>
          <a:ln/>
        </p:spPr>
        <p:txBody>
          <a:bodyPr wrap="none" lIns="0" tIns="0" rIns="0" bIns="0" rtlCol="0" anchor="t"/>
          <a:lstStyle/>
          <a:p>
            <a:pPr marL="0" indent="0" algn="ctr">
              <a:lnSpc>
                <a:spcPts val="5850"/>
              </a:lnSpc>
              <a:buNone/>
            </a:pPr>
            <a:r>
              <a:rPr lang="en-US" sz="5850" dirty="0">
                <a:solidFill>
                  <a:srgbClr val="CFD0D8"/>
                </a:solidFill>
                <a:latin typeface="Roboto Medium" pitchFamily="34" charset="0"/>
                <a:ea typeface="Roboto Medium" pitchFamily="34" charset="-122"/>
                <a:cs typeface="Roboto Medium" pitchFamily="34" charset="-120"/>
              </a:rPr>
              <a:t>150M</a:t>
            </a:r>
            <a:endParaRPr lang="en-US" sz="5850" dirty="0"/>
          </a:p>
        </p:txBody>
      </p:sp>
      <p:sp>
        <p:nvSpPr>
          <p:cNvPr id="5" name="Text 2"/>
          <p:cNvSpPr/>
          <p:nvPr/>
        </p:nvSpPr>
        <p:spPr>
          <a:xfrm>
            <a:off x="3618573" y="4909807"/>
            <a:ext cx="3144644" cy="465149"/>
          </a:xfrm>
          <a:prstGeom prst="rect">
            <a:avLst/>
          </a:prstGeom>
          <a:noFill/>
          <a:ln/>
        </p:spPr>
        <p:txBody>
          <a:bodyPr wrap="none" lIns="0" tIns="0" rIns="0" bIns="0" rtlCol="0" anchor="t"/>
          <a:lstStyle/>
          <a:p>
            <a:pPr marL="0" indent="0" algn="ctr">
              <a:lnSpc>
                <a:spcPts val="2750"/>
              </a:lnSpc>
              <a:buNone/>
            </a:pPr>
            <a:r>
              <a:rPr lang="en-US" sz="2800" b="1"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Subscribers</a:t>
            </a:r>
            <a:endParaRPr lang="en-US" sz="2800" b="1"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6" name="Text 3"/>
          <p:cNvSpPr/>
          <p:nvPr/>
        </p:nvSpPr>
        <p:spPr>
          <a:xfrm>
            <a:off x="8095784" y="4045717"/>
            <a:ext cx="3445727" cy="748428"/>
          </a:xfrm>
          <a:prstGeom prst="rect">
            <a:avLst/>
          </a:prstGeom>
          <a:noFill/>
          <a:ln/>
        </p:spPr>
        <p:txBody>
          <a:bodyPr wrap="none" lIns="0" tIns="0" rIns="0" bIns="0" rtlCol="0" anchor="t"/>
          <a:lstStyle/>
          <a:p>
            <a:pPr marL="0" indent="0" algn="ctr">
              <a:lnSpc>
                <a:spcPts val="5850"/>
              </a:lnSpc>
              <a:buNone/>
            </a:pPr>
            <a:r>
              <a:rPr lang="en-US" sz="5850" dirty="0">
                <a:solidFill>
                  <a:srgbClr val="CFD0D8"/>
                </a:solidFill>
                <a:latin typeface="Roboto Medium" pitchFamily="34" charset="0"/>
                <a:ea typeface="Roboto Medium" pitchFamily="34" charset="-122"/>
                <a:cs typeface="Roboto Medium" pitchFamily="34" charset="-120"/>
              </a:rPr>
              <a:t>100</a:t>
            </a:r>
            <a:endParaRPr lang="en-US" sz="5850" dirty="0"/>
          </a:p>
        </p:txBody>
      </p:sp>
      <p:sp>
        <p:nvSpPr>
          <p:cNvPr id="7" name="Text 4"/>
          <p:cNvSpPr/>
          <p:nvPr/>
        </p:nvSpPr>
        <p:spPr>
          <a:xfrm>
            <a:off x="8559898" y="4909807"/>
            <a:ext cx="2835235" cy="465149"/>
          </a:xfrm>
          <a:prstGeom prst="rect">
            <a:avLst/>
          </a:prstGeom>
          <a:noFill/>
          <a:ln/>
        </p:spPr>
        <p:txBody>
          <a:bodyPr wrap="none" lIns="0" tIns="0" rIns="0" bIns="0" rtlCol="0" anchor="t"/>
          <a:lstStyle/>
          <a:p>
            <a:pPr marL="0" indent="0" algn="ctr">
              <a:lnSpc>
                <a:spcPts val="2750"/>
              </a:lnSpc>
              <a:buNone/>
            </a:pPr>
            <a:r>
              <a:rPr lang="en-US" sz="2800" b="1"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Countries</a:t>
            </a:r>
            <a:endParaRPr lang="en-US" sz="2800" b="1" dirty="0">
              <a:latin typeface="Roboto Medium" panose="02000000000000000000" pitchFamily="2" charset="0"/>
              <a:ea typeface="Roboto Medium" panose="02000000000000000000" pitchFamily="2" charset="0"/>
              <a:cs typeface="Roboto Medium" panose="02000000000000000000" pitchFamily="2" charset="0"/>
            </a:endParaRPr>
          </a:p>
        </p:txBody>
      </p:sp>
      <p:pic>
        <p:nvPicPr>
          <p:cNvPr id="11" name="Picture 10">
            <a:extLst>
              <a:ext uri="{FF2B5EF4-FFF2-40B4-BE49-F238E27FC236}">
                <a16:creationId xmlns:a16="http://schemas.microsoft.com/office/drawing/2014/main" id="{31D2C4E3-0708-7413-B7D4-90D42A06378C}"/>
              </a:ext>
            </a:extLst>
          </p:cNvPr>
          <p:cNvPicPr>
            <a:picLocks noChangeAspect="1"/>
          </p:cNvPicPr>
          <p:nvPr/>
        </p:nvPicPr>
        <p:blipFill>
          <a:blip r:embed="rId3"/>
          <a:stretch>
            <a:fillRect/>
          </a:stretch>
        </p:blipFill>
        <p:spPr>
          <a:xfrm>
            <a:off x="12624642" y="7203222"/>
            <a:ext cx="2005758" cy="969348"/>
          </a:xfrm>
          <a:prstGeom prst="rect">
            <a:avLst/>
          </a:prstGeom>
        </p:spPr>
      </p:pic>
      <p:sp>
        <p:nvSpPr>
          <p:cNvPr id="13" name="TextBox 12">
            <a:extLst>
              <a:ext uri="{FF2B5EF4-FFF2-40B4-BE49-F238E27FC236}">
                <a16:creationId xmlns:a16="http://schemas.microsoft.com/office/drawing/2014/main" id="{DD799E66-1E08-03BA-A9B0-6F2B57A3A1E3}"/>
              </a:ext>
            </a:extLst>
          </p:cNvPr>
          <p:cNvSpPr txBox="1"/>
          <p:nvPr/>
        </p:nvSpPr>
        <p:spPr>
          <a:xfrm rot="10800000" flipV="1">
            <a:off x="3100040" y="5601694"/>
            <a:ext cx="4181708" cy="1191993"/>
          </a:xfrm>
          <a:prstGeom prst="rect">
            <a:avLst/>
          </a:prstGeom>
          <a:noFill/>
        </p:spPr>
        <p:txBody>
          <a:bodyPr wrap="square">
            <a:spAutoFit/>
          </a:bodyPr>
          <a:lstStyle/>
          <a:p>
            <a:pPr marL="0" indent="0" algn="ctr">
              <a:lnSpc>
                <a:spcPts val="2850"/>
              </a:lnSpc>
              <a:buNone/>
            </a:pPr>
            <a:r>
              <a:rPr lang="en-US" sz="24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Prime Video boasts a large and growing subscriber base    worldwide</a:t>
            </a:r>
            <a:r>
              <a:rPr lang="en-US" sz="18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a:t>
            </a:r>
            <a:endParaRPr lang="en-US" sz="1800" dirty="0">
              <a:latin typeface="Roboto Medium" panose="02000000000000000000" pitchFamily="2" charset="0"/>
              <a:ea typeface="Roboto Medium" panose="02000000000000000000" pitchFamily="2" charset="0"/>
              <a:cs typeface="Roboto Medium" panose="02000000000000000000" pitchFamily="2" charset="0"/>
            </a:endParaRPr>
          </a:p>
        </p:txBody>
      </p:sp>
      <p:sp>
        <p:nvSpPr>
          <p:cNvPr id="15" name="TextBox 14">
            <a:extLst>
              <a:ext uri="{FF2B5EF4-FFF2-40B4-BE49-F238E27FC236}">
                <a16:creationId xmlns:a16="http://schemas.microsoft.com/office/drawing/2014/main" id="{8C903995-7404-6045-41FB-B8E7E719DA03}"/>
              </a:ext>
            </a:extLst>
          </p:cNvPr>
          <p:cNvSpPr txBox="1"/>
          <p:nvPr/>
        </p:nvSpPr>
        <p:spPr>
          <a:xfrm>
            <a:off x="7669212" y="5635629"/>
            <a:ext cx="4616605" cy="1191993"/>
          </a:xfrm>
          <a:prstGeom prst="rect">
            <a:avLst/>
          </a:prstGeom>
          <a:noFill/>
        </p:spPr>
        <p:txBody>
          <a:bodyPr wrap="square">
            <a:spAutoFit/>
          </a:bodyPr>
          <a:lstStyle/>
          <a:p>
            <a:pPr marL="0" indent="0" algn="ctr">
              <a:lnSpc>
                <a:spcPts val="2850"/>
              </a:lnSpc>
              <a:buNone/>
            </a:pPr>
            <a:r>
              <a:rPr lang="en-US" sz="24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The platform is available in over 100 countries, expanding its global reach</a:t>
            </a:r>
            <a:r>
              <a:rPr lang="en-US" sz="1800" dirty="0">
                <a:solidFill>
                  <a:srgbClr val="CFD0D8"/>
                </a:solidFill>
                <a:latin typeface="Roboto Medium" panose="02000000000000000000" pitchFamily="2" charset="0"/>
                <a:ea typeface="Roboto Medium" panose="02000000000000000000" pitchFamily="2" charset="0"/>
                <a:cs typeface="Roboto Medium" panose="02000000000000000000" pitchFamily="2" charset="0"/>
              </a:rPr>
              <a:t>.</a:t>
            </a:r>
            <a:endParaRPr lang="en-US" sz="1800" dirty="0">
              <a:latin typeface="Roboto Medium" panose="02000000000000000000" pitchFamily="2" charset="0"/>
              <a:ea typeface="Roboto Medium" panose="02000000000000000000" pitchFamily="2" charset="0"/>
              <a:cs typeface="Roboto Medium" panose="02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89" y="1149691"/>
            <a:ext cx="13100631" cy="1515047"/>
          </a:xfrm>
          <a:prstGeom prst="rect">
            <a:avLst/>
          </a:prstGeom>
          <a:noFill/>
          <a:ln/>
        </p:spPr>
        <p:txBody>
          <a:bodyPr wrap="none" lIns="0" tIns="0" rIns="0" bIns="0" rtlCol="0" anchor="t"/>
          <a:lstStyle/>
          <a:p>
            <a:pPr marL="0" indent="0" algn="ctr">
              <a:lnSpc>
                <a:spcPts val="5550"/>
              </a:lnSpc>
              <a:buNone/>
            </a:pPr>
            <a:r>
              <a:rPr lang="en-US" sz="7200" dirty="0">
                <a:solidFill>
                  <a:srgbClr val="FFFFFF"/>
                </a:solidFill>
                <a:latin typeface="Roboto Medium" pitchFamily="34" charset="0"/>
                <a:ea typeface="Roboto Medium" pitchFamily="34" charset="-122"/>
                <a:cs typeface="Roboto Medium" pitchFamily="34" charset="-120"/>
              </a:rPr>
              <a:t>Findings</a:t>
            </a:r>
            <a:endParaRPr lang="en-US" sz="7200" dirty="0"/>
          </a:p>
        </p:txBody>
      </p:sp>
      <p:pic>
        <p:nvPicPr>
          <p:cNvPr id="15" name="Picture 14">
            <a:extLst>
              <a:ext uri="{FF2B5EF4-FFF2-40B4-BE49-F238E27FC236}">
                <a16:creationId xmlns:a16="http://schemas.microsoft.com/office/drawing/2014/main" id="{E3DB3A20-63B3-C436-1C6A-B9162B098738}"/>
              </a:ext>
            </a:extLst>
          </p:cNvPr>
          <p:cNvPicPr>
            <a:picLocks noChangeAspect="1"/>
          </p:cNvPicPr>
          <p:nvPr/>
        </p:nvPicPr>
        <p:blipFill>
          <a:blip r:embed="rId3"/>
          <a:stretch>
            <a:fillRect/>
          </a:stretch>
        </p:blipFill>
        <p:spPr>
          <a:xfrm>
            <a:off x="12624642" y="7200662"/>
            <a:ext cx="2005758" cy="969348"/>
          </a:xfrm>
          <a:prstGeom prst="rect">
            <a:avLst/>
          </a:prstGeom>
        </p:spPr>
      </p:pic>
      <p:sp>
        <p:nvSpPr>
          <p:cNvPr id="14" name="TextBox 13">
            <a:extLst>
              <a:ext uri="{FF2B5EF4-FFF2-40B4-BE49-F238E27FC236}">
                <a16:creationId xmlns:a16="http://schemas.microsoft.com/office/drawing/2014/main" id="{EB15B993-9241-17CF-F782-2C9961C87D7E}"/>
              </a:ext>
            </a:extLst>
          </p:cNvPr>
          <p:cNvSpPr txBox="1"/>
          <p:nvPr/>
        </p:nvSpPr>
        <p:spPr>
          <a:xfrm>
            <a:off x="1628079" y="2511885"/>
            <a:ext cx="11363092" cy="5232202"/>
          </a:xfrm>
          <a:prstGeom prst="rect">
            <a:avLst/>
          </a:prstGeom>
          <a:noFill/>
        </p:spPr>
        <p:txBody>
          <a:bodyPr wrap="square" rtlCol="0">
            <a:spAutoFit/>
          </a:bodyPr>
          <a:lstStyle/>
          <a:p>
            <a:pPr marL="285750" indent="-285750" algn="just">
              <a:buFont typeface="Wingdings" panose="05000000000000000000" pitchFamily="2" charset="2"/>
              <a:buChar char="v"/>
            </a:pPr>
            <a:r>
              <a:rPr lang="en-IN" sz="2800" dirty="0">
                <a:solidFill>
                  <a:schemeClr val="bg1"/>
                </a:solidFill>
              </a:rPr>
              <a:t>Movies dominate the platform, comprising 80.82% of the content, while TV shows make up the remaining 19.18%.</a:t>
            </a:r>
          </a:p>
          <a:p>
            <a:pPr algn="just"/>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The dashboard shows a steady increase in the number of shows and movies year by year.</a:t>
            </a:r>
          </a:p>
          <a:p>
            <a:pPr marL="285750" indent="-285750" algn="just">
              <a:buFont typeface="Wingdings" panose="05000000000000000000" pitchFamily="2" charset="2"/>
              <a:buChar char="v"/>
            </a:pPr>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Comedy, Animation, Kids and Drama lead the pack in terms of the number of shows offered.</a:t>
            </a:r>
          </a:p>
          <a:p>
            <a:pPr marL="285750" indent="-285750" algn="just">
              <a:buFont typeface="Wingdings" panose="05000000000000000000" pitchFamily="2" charset="2"/>
              <a:buChar char="v"/>
            </a:pPr>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A majority of shows hold rating suitable for all audience.</a:t>
            </a:r>
          </a:p>
          <a:p>
            <a:pPr marL="285750" indent="-285750">
              <a:buFont typeface="Wingdings" panose="05000000000000000000" pitchFamily="2" charset="2"/>
              <a:buChar char="v"/>
            </a:pPr>
            <a:endParaRPr lang="en-IN" dirty="0">
              <a:solidFill>
                <a:schemeClr val="bg1"/>
              </a:solidFill>
            </a:endParaRPr>
          </a:p>
          <a:p>
            <a:endParaRPr lang="en-IN" dirty="0">
              <a:solidFill>
                <a:schemeClr val="bg1"/>
              </a:solidFill>
            </a:endParaRPr>
          </a:p>
          <a:p>
            <a:pPr marL="285750" indent="-285750">
              <a:buFont typeface="Wingdings" panose="05000000000000000000" pitchFamily="2" charset="2"/>
              <a:buChar char="v"/>
            </a:pPr>
            <a:endParaRPr lang="en-IN"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45241"/>
            <a:ext cx="12929472" cy="1562823"/>
          </a:xfrm>
          <a:prstGeom prst="rect">
            <a:avLst/>
          </a:prstGeom>
          <a:noFill/>
          <a:ln/>
        </p:spPr>
        <p:txBody>
          <a:bodyPr wrap="none" lIns="0" tIns="0" rIns="0" bIns="0" rtlCol="0" anchor="t"/>
          <a:lstStyle/>
          <a:p>
            <a:pPr marL="0" indent="0" algn="ctr">
              <a:lnSpc>
                <a:spcPts val="5550"/>
              </a:lnSpc>
              <a:buNone/>
            </a:pPr>
            <a:r>
              <a:rPr lang="en-US" sz="7200" dirty="0">
                <a:solidFill>
                  <a:srgbClr val="FFFFFF"/>
                </a:solidFill>
                <a:latin typeface="Roboto Medium" pitchFamily="34" charset="0"/>
                <a:ea typeface="Roboto Medium" pitchFamily="34" charset="-122"/>
                <a:cs typeface="Roboto Medium" pitchFamily="34" charset="-120"/>
              </a:rPr>
              <a:t>Suggestions</a:t>
            </a:r>
            <a:endParaRPr lang="en-US" sz="7200" dirty="0"/>
          </a:p>
        </p:txBody>
      </p:sp>
      <p:sp>
        <p:nvSpPr>
          <p:cNvPr id="3" name="Shape 1"/>
          <p:cNvSpPr/>
          <p:nvPr/>
        </p:nvSpPr>
        <p:spPr>
          <a:xfrm>
            <a:off x="793790" y="3061692"/>
            <a:ext cx="2173724" cy="807958"/>
          </a:xfrm>
          <a:prstGeom prst="roundRect">
            <a:avLst>
              <a:gd name="adj" fmla="val 11791"/>
            </a:avLst>
          </a:prstGeom>
          <a:solidFill>
            <a:srgbClr val="182567"/>
          </a:solidFill>
          <a:ln w="7620">
            <a:solidFill>
              <a:srgbClr val="313E80"/>
            </a:solidFill>
            <a:prstDash val="solid"/>
          </a:ln>
        </p:spPr>
      </p:sp>
      <p:sp>
        <p:nvSpPr>
          <p:cNvPr id="4" name="Text 2"/>
          <p:cNvSpPr/>
          <p:nvPr/>
        </p:nvSpPr>
        <p:spPr>
          <a:xfrm>
            <a:off x="1028224" y="3238857"/>
            <a:ext cx="161092" cy="453509"/>
          </a:xfrm>
          <a:prstGeom prst="rect">
            <a:avLst/>
          </a:prstGeom>
          <a:noFill/>
          <a:ln/>
        </p:spPr>
        <p:txBody>
          <a:bodyPr wrap="none" lIns="0" tIns="0" rIns="0" bIns="0" rtlCol="0" anchor="t"/>
          <a:lstStyle/>
          <a:p>
            <a:pPr marL="0" indent="0" algn="ctr">
              <a:lnSpc>
                <a:spcPts val="3550"/>
              </a:lnSpc>
              <a:buNone/>
            </a:pPr>
            <a:r>
              <a:rPr lang="en-US" sz="2200" dirty="0">
                <a:solidFill>
                  <a:srgbClr val="CFD0D8"/>
                </a:solidFill>
                <a:latin typeface="Roboto Medium" pitchFamily="34" charset="0"/>
                <a:ea typeface="Roboto Medium" pitchFamily="34" charset="-122"/>
                <a:cs typeface="Roboto Medium" pitchFamily="34" charset="-120"/>
              </a:rPr>
              <a:t>1</a:t>
            </a:r>
            <a:endParaRPr lang="en-US" sz="2200" dirty="0"/>
          </a:p>
        </p:txBody>
      </p:sp>
      <p:sp>
        <p:nvSpPr>
          <p:cNvPr id="5" name="Text 3"/>
          <p:cNvSpPr/>
          <p:nvPr/>
        </p:nvSpPr>
        <p:spPr>
          <a:xfrm>
            <a:off x="3194328" y="3288506"/>
            <a:ext cx="3060263" cy="354330"/>
          </a:xfrm>
          <a:prstGeom prst="rect">
            <a:avLst/>
          </a:prstGeom>
          <a:noFill/>
          <a:ln/>
        </p:spPr>
        <p:txBody>
          <a:bodyPr wrap="none" lIns="0" tIns="0" rIns="0" bIns="0" rtlCol="0" anchor="t"/>
          <a:lstStyle/>
          <a:p>
            <a:pPr marL="0" indent="0" algn="l">
              <a:lnSpc>
                <a:spcPts val="2750"/>
              </a:lnSpc>
              <a:buNone/>
            </a:pPr>
            <a:r>
              <a:rPr lang="en-US" sz="3200" dirty="0">
                <a:solidFill>
                  <a:srgbClr val="CFD0D8"/>
                </a:solidFill>
                <a:latin typeface="Roboto Medium" pitchFamily="34" charset="0"/>
                <a:ea typeface="Roboto Medium" pitchFamily="34" charset="-122"/>
                <a:cs typeface="Roboto Medium" pitchFamily="34" charset="-120"/>
              </a:rPr>
              <a:t>Expand Original Content</a:t>
            </a:r>
            <a:endParaRPr lang="en-US" sz="3200" dirty="0"/>
          </a:p>
        </p:txBody>
      </p:sp>
      <p:sp>
        <p:nvSpPr>
          <p:cNvPr id="6" name="Shape 4"/>
          <p:cNvSpPr/>
          <p:nvPr/>
        </p:nvSpPr>
        <p:spPr>
          <a:xfrm>
            <a:off x="3080861" y="3854410"/>
            <a:ext cx="10642402" cy="15240"/>
          </a:xfrm>
          <a:prstGeom prst="roundRect">
            <a:avLst>
              <a:gd name="adj" fmla="val 625116"/>
            </a:avLst>
          </a:prstGeom>
          <a:solidFill>
            <a:srgbClr val="313E80"/>
          </a:solidFill>
          <a:ln/>
        </p:spPr>
      </p:sp>
      <p:sp>
        <p:nvSpPr>
          <p:cNvPr id="7" name="Shape 5"/>
          <p:cNvSpPr/>
          <p:nvPr/>
        </p:nvSpPr>
        <p:spPr>
          <a:xfrm>
            <a:off x="793790" y="3982998"/>
            <a:ext cx="4347567" cy="807958"/>
          </a:xfrm>
          <a:prstGeom prst="roundRect">
            <a:avLst>
              <a:gd name="adj" fmla="val 11791"/>
            </a:avLst>
          </a:prstGeom>
          <a:solidFill>
            <a:srgbClr val="182567"/>
          </a:solidFill>
          <a:ln w="7620">
            <a:solidFill>
              <a:srgbClr val="313E80"/>
            </a:solidFill>
            <a:prstDash val="solid"/>
          </a:ln>
        </p:spPr>
      </p:sp>
      <p:sp>
        <p:nvSpPr>
          <p:cNvPr id="8" name="Text 6"/>
          <p:cNvSpPr/>
          <p:nvPr/>
        </p:nvSpPr>
        <p:spPr>
          <a:xfrm>
            <a:off x="1028224" y="4160163"/>
            <a:ext cx="161092" cy="453509"/>
          </a:xfrm>
          <a:prstGeom prst="rect">
            <a:avLst/>
          </a:prstGeom>
          <a:noFill/>
          <a:ln/>
        </p:spPr>
        <p:txBody>
          <a:bodyPr wrap="none" lIns="0" tIns="0" rIns="0" bIns="0" rtlCol="0" anchor="t"/>
          <a:lstStyle/>
          <a:p>
            <a:pPr marL="0" indent="0" algn="ctr">
              <a:lnSpc>
                <a:spcPts val="3550"/>
              </a:lnSpc>
              <a:buNone/>
            </a:pPr>
            <a:r>
              <a:rPr lang="en-US" sz="2200" dirty="0">
                <a:solidFill>
                  <a:srgbClr val="CFD0D8"/>
                </a:solidFill>
                <a:latin typeface="Roboto Medium" pitchFamily="34" charset="0"/>
                <a:ea typeface="Roboto Medium" pitchFamily="34" charset="-122"/>
                <a:cs typeface="Roboto Medium" pitchFamily="34" charset="-120"/>
              </a:rPr>
              <a:t>2</a:t>
            </a:r>
            <a:endParaRPr lang="en-US" sz="2200" dirty="0"/>
          </a:p>
        </p:txBody>
      </p:sp>
      <p:sp>
        <p:nvSpPr>
          <p:cNvPr id="9" name="Text 7"/>
          <p:cNvSpPr/>
          <p:nvPr/>
        </p:nvSpPr>
        <p:spPr>
          <a:xfrm>
            <a:off x="5368171" y="4209812"/>
            <a:ext cx="2950607" cy="354330"/>
          </a:xfrm>
          <a:prstGeom prst="rect">
            <a:avLst/>
          </a:prstGeom>
          <a:noFill/>
          <a:ln/>
        </p:spPr>
        <p:txBody>
          <a:bodyPr wrap="none" lIns="0" tIns="0" rIns="0" bIns="0" rtlCol="0" anchor="t"/>
          <a:lstStyle/>
          <a:p>
            <a:pPr marL="0" indent="0" algn="l">
              <a:lnSpc>
                <a:spcPts val="2750"/>
              </a:lnSpc>
              <a:buNone/>
            </a:pPr>
            <a:r>
              <a:rPr lang="en-US" sz="3200" dirty="0">
                <a:solidFill>
                  <a:srgbClr val="CFD0D8"/>
                </a:solidFill>
                <a:latin typeface="Roboto Medium" pitchFamily="34" charset="0"/>
                <a:ea typeface="Roboto Medium" pitchFamily="34" charset="-122"/>
                <a:cs typeface="Roboto Medium" pitchFamily="34" charset="-120"/>
              </a:rPr>
              <a:t>Enhance User Interface</a:t>
            </a:r>
            <a:endParaRPr lang="en-US" sz="3200" dirty="0"/>
          </a:p>
        </p:txBody>
      </p:sp>
      <p:sp>
        <p:nvSpPr>
          <p:cNvPr id="10" name="Shape 8"/>
          <p:cNvSpPr/>
          <p:nvPr/>
        </p:nvSpPr>
        <p:spPr>
          <a:xfrm>
            <a:off x="5254704" y="4775716"/>
            <a:ext cx="8468558" cy="15240"/>
          </a:xfrm>
          <a:prstGeom prst="roundRect">
            <a:avLst>
              <a:gd name="adj" fmla="val 625116"/>
            </a:avLst>
          </a:prstGeom>
          <a:solidFill>
            <a:srgbClr val="313E80"/>
          </a:solidFill>
          <a:ln/>
        </p:spPr>
      </p:sp>
      <p:sp>
        <p:nvSpPr>
          <p:cNvPr id="11" name="Shape 9"/>
          <p:cNvSpPr/>
          <p:nvPr/>
        </p:nvSpPr>
        <p:spPr>
          <a:xfrm>
            <a:off x="793790" y="4904303"/>
            <a:ext cx="6521410" cy="807958"/>
          </a:xfrm>
          <a:prstGeom prst="roundRect">
            <a:avLst>
              <a:gd name="adj" fmla="val 11791"/>
            </a:avLst>
          </a:prstGeom>
          <a:solidFill>
            <a:srgbClr val="182567"/>
          </a:solidFill>
          <a:ln w="7620">
            <a:solidFill>
              <a:srgbClr val="313E80"/>
            </a:solidFill>
            <a:prstDash val="solid"/>
          </a:ln>
        </p:spPr>
      </p:sp>
      <p:sp>
        <p:nvSpPr>
          <p:cNvPr id="12" name="Text 10"/>
          <p:cNvSpPr/>
          <p:nvPr/>
        </p:nvSpPr>
        <p:spPr>
          <a:xfrm>
            <a:off x="1028224" y="5081468"/>
            <a:ext cx="161092" cy="453509"/>
          </a:xfrm>
          <a:prstGeom prst="rect">
            <a:avLst/>
          </a:prstGeom>
          <a:noFill/>
          <a:ln/>
        </p:spPr>
        <p:txBody>
          <a:bodyPr wrap="none" lIns="0" tIns="0" rIns="0" bIns="0" rtlCol="0" anchor="t"/>
          <a:lstStyle/>
          <a:p>
            <a:pPr marL="0" indent="0" algn="ctr">
              <a:lnSpc>
                <a:spcPts val="3550"/>
              </a:lnSpc>
              <a:buNone/>
            </a:pPr>
            <a:r>
              <a:rPr lang="en-US" sz="2200" dirty="0">
                <a:solidFill>
                  <a:srgbClr val="CFD0D8"/>
                </a:solidFill>
                <a:latin typeface="Roboto Medium" pitchFamily="34" charset="0"/>
                <a:ea typeface="Roboto Medium" pitchFamily="34" charset="-122"/>
                <a:cs typeface="Roboto Medium" pitchFamily="34" charset="-120"/>
              </a:rPr>
              <a:t>3</a:t>
            </a:r>
            <a:endParaRPr lang="en-US" sz="2200" dirty="0"/>
          </a:p>
        </p:txBody>
      </p:sp>
      <p:sp>
        <p:nvSpPr>
          <p:cNvPr id="13" name="Text 11"/>
          <p:cNvSpPr/>
          <p:nvPr/>
        </p:nvSpPr>
        <p:spPr>
          <a:xfrm>
            <a:off x="7542014" y="5131118"/>
            <a:ext cx="3419594" cy="354330"/>
          </a:xfrm>
          <a:prstGeom prst="rect">
            <a:avLst/>
          </a:prstGeom>
          <a:noFill/>
          <a:ln/>
        </p:spPr>
        <p:txBody>
          <a:bodyPr wrap="none" lIns="0" tIns="0" rIns="0" bIns="0" rtlCol="0" anchor="t"/>
          <a:lstStyle/>
          <a:p>
            <a:pPr marL="0" indent="0" algn="l">
              <a:lnSpc>
                <a:spcPts val="2750"/>
              </a:lnSpc>
              <a:buNone/>
            </a:pPr>
            <a:r>
              <a:rPr lang="en-US" sz="3200" dirty="0">
                <a:solidFill>
                  <a:srgbClr val="CFD0D8"/>
                </a:solidFill>
                <a:latin typeface="Roboto Medium" pitchFamily="34" charset="0"/>
                <a:ea typeface="Roboto Medium" pitchFamily="34" charset="-122"/>
                <a:cs typeface="Roboto Medium" pitchFamily="34" charset="-120"/>
              </a:rPr>
              <a:t>Improve Customer Support</a:t>
            </a:r>
            <a:endParaRPr lang="en-US" sz="3200" dirty="0"/>
          </a:p>
        </p:txBody>
      </p:sp>
      <p:pic>
        <p:nvPicPr>
          <p:cNvPr id="15" name="Picture 14">
            <a:extLst>
              <a:ext uri="{FF2B5EF4-FFF2-40B4-BE49-F238E27FC236}">
                <a16:creationId xmlns:a16="http://schemas.microsoft.com/office/drawing/2014/main" id="{5D454369-1713-2819-21BA-DBBFECF740F8}"/>
              </a:ext>
            </a:extLst>
          </p:cNvPr>
          <p:cNvPicPr>
            <a:picLocks noChangeAspect="1"/>
          </p:cNvPicPr>
          <p:nvPr/>
        </p:nvPicPr>
        <p:blipFill>
          <a:blip r:embed="rId3"/>
          <a:stretch>
            <a:fillRect/>
          </a:stretch>
        </p:blipFill>
        <p:spPr>
          <a:xfrm>
            <a:off x="12500517" y="7259444"/>
            <a:ext cx="2006220" cy="9701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89" y="1572323"/>
            <a:ext cx="7424659" cy="2000982"/>
          </a:xfrm>
          <a:prstGeom prst="rect">
            <a:avLst/>
          </a:prstGeom>
          <a:noFill/>
          <a:ln/>
        </p:spPr>
        <p:txBody>
          <a:bodyPr wrap="none" lIns="0" tIns="0" rIns="0" bIns="0" rtlCol="0" anchor="t"/>
          <a:lstStyle/>
          <a:p>
            <a:pPr marL="0" indent="0" algn="ctr">
              <a:lnSpc>
                <a:spcPts val="5550"/>
              </a:lnSpc>
              <a:buNone/>
            </a:pPr>
            <a:r>
              <a:rPr lang="en-US" sz="7200" dirty="0">
                <a:solidFill>
                  <a:srgbClr val="FFFFFF"/>
                </a:solidFill>
                <a:latin typeface="Roboto Medium" pitchFamily="34" charset="0"/>
                <a:ea typeface="Roboto Medium" pitchFamily="34" charset="-122"/>
                <a:cs typeface="Roboto Medium" pitchFamily="34" charset="-120"/>
              </a:rPr>
              <a:t>Conclusion</a:t>
            </a:r>
            <a:endParaRPr lang="en-US" sz="7200" dirty="0"/>
          </a:p>
        </p:txBody>
      </p:sp>
      <p:sp>
        <p:nvSpPr>
          <p:cNvPr id="4" name="Text 1"/>
          <p:cNvSpPr/>
          <p:nvPr/>
        </p:nvSpPr>
        <p:spPr>
          <a:xfrm>
            <a:off x="6534615" y="3010829"/>
            <a:ext cx="7036419" cy="4081347"/>
          </a:xfrm>
          <a:prstGeom prst="rect">
            <a:avLst/>
          </a:prstGeom>
          <a:noFill/>
          <a:ln/>
        </p:spPr>
        <p:txBody>
          <a:bodyPr wrap="square" lIns="0" tIns="0" rIns="0" bIns="0" rtlCol="0" anchor="t"/>
          <a:lstStyle/>
          <a:p>
            <a:pPr marL="0" indent="0" algn="just">
              <a:buNone/>
            </a:pPr>
            <a:r>
              <a:rPr lang="en-US" sz="3200" dirty="0">
                <a:solidFill>
                  <a:srgbClr val="CFD0D8"/>
                </a:solidFill>
                <a:latin typeface="Roboto" pitchFamily="34" charset="0"/>
                <a:ea typeface="Roboto" pitchFamily="34" charset="-122"/>
                <a:cs typeface="Roboto" pitchFamily="34" charset="-120"/>
              </a:rPr>
              <a:t>This Amazon Prime Video Dashboard shows us that prime video offers a huge selection of content, with over 9,650 shows spanning across 518 genres and 87 countries. The majority of shows are rated for all audience, and comedy and kid’s shows are the most popular genres. </a:t>
            </a:r>
            <a:endParaRPr lang="en-US" sz="3200" dirty="0"/>
          </a:p>
        </p:txBody>
      </p:sp>
      <p:pic>
        <p:nvPicPr>
          <p:cNvPr id="5" name="Picture 4">
            <a:extLst>
              <a:ext uri="{FF2B5EF4-FFF2-40B4-BE49-F238E27FC236}">
                <a16:creationId xmlns:a16="http://schemas.microsoft.com/office/drawing/2014/main" id="{F94441C7-63A5-171C-58F7-F7B525ADF971}"/>
              </a:ext>
            </a:extLst>
          </p:cNvPr>
          <p:cNvPicPr>
            <a:picLocks noChangeAspect="1"/>
          </p:cNvPicPr>
          <p:nvPr/>
        </p:nvPicPr>
        <p:blipFill>
          <a:blip r:embed="rId4"/>
          <a:stretch>
            <a:fillRect/>
          </a:stretch>
        </p:blipFill>
        <p:spPr>
          <a:xfrm>
            <a:off x="12768146" y="7200524"/>
            <a:ext cx="1834623" cy="10290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11425" y="0"/>
            <a:ext cx="5486400" cy="8229600"/>
          </a:xfrm>
          <a:prstGeom prst="rect">
            <a:avLst/>
          </a:prstGeom>
        </p:spPr>
      </p:pic>
      <p:sp>
        <p:nvSpPr>
          <p:cNvPr id="3" name="Text 0"/>
          <p:cNvSpPr/>
          <p:nvPr/>
        </p:nvSpPr>
        <p:spPr>
          <a:xfrm>
            <a:off x="6280190" y="3215997"/>
            <a:ext cx="7556421"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4" name="Text 1"/>
          <p:cNvSpPr/>
          <p:nvPr/>
        </p:nvSpPr>
        <p:spPr>
          <a:xfrm>
            <a:off x="459253" y="357890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FFFFF"/>
                </a:solidFill>
                <a:latin typeface="Roboto Medium" pitchFamily="34" charset="0"/>
                <a:ea typeface="Roboto Medium" pitchFamily="34" charset="-122"/>
                <a:cs typeface="Roboto Medium" pitchFamily="34" charset="-120"/>
              </a:rPr>
              <a:t>               </a:t>
            </a:r>
            <a:r>
              <a:rPr lang="en-US" sz="7200" dirty="0">
                <a:solidFill>
                  <a:srgbClr val="FFFFFF"/>
                </a:solidFill>
                <a:latin typeface="Roboto Medium" pitchFamily="34" charset="0"/>
                <a:ea typeface="Roboto Medium" pitchFamily="34" charset="-122"/>
                <a:cs typeface="Roboto Medium" pitchFamily="34" charset="-120"/>
              </a:rPr>
              <a:t>Thank You</a:t>
            </a:r>
            <a:endParaRPr lang="en-US" sz="7200" dirty="0"/>
          </a:p>
        </p:txBody>
      </p:sp>
      <p:sp>
        <p:nvSpPr>
          <p:cNvPr id="5" name="Text 2"/>
          <p:cNvSpPr/>
          <p:nvPr/>
        </p:nvSpPr>
        <p:spPr>
          <a:xfrm>
            <a:off x="6280190" y="4854654"/>
            <a:ext cx="7556421" cy="362903"/>
          </a:xfrm>
          <a:prstGeom prst="rect">
            <a:avLst/>
          </a:prstGeom>
          <a:noFill/>
          <a:ln/>
        </p:spPr>
        <p:txBody>
          <a:bodyPr wrap="none" lIns="0" tIns="0" rIns="0" bIns="0" rtlCol="0" anchor="t"/>
          <a:lstStyle/>
          <a:p>
            <a:pPr marL="0" indent="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TotalTime>
  <Words>313</Words>
  <Application>Microsoft Office PowerPoint</Application>
  <PresentationFormat>Custom</PresentationFormat>
  <Paragraphs>47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Roboto Medium</vt:lpstr>
      <vt:lpstr>Wingdings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RIJU SARANG</cp:lastModifiedBy>
  <cp:revision>14</cp:revision>
  <dcterms:created xsi:type="dcterms:W3CDTF">2025-01-02T10:11:31Z</dcterms:created>
  <dcterms:modified xsi:type="dcterms:W3CDTF">2025-01-25T05:22:45Z</dcterms:modified>
</cp:coreProperties>
</file>